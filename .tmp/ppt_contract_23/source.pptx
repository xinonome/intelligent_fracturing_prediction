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10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" y="0"/>
            <a:ext cx="12158980" cy="6858000"/>
          </a:xfrm>
          <a:prstGeom prst="rect">
            <a:avLst/>
          </a:prstGeom>
          <a:ln>
            <a:noFill/>
          </a:ln>
        </p:spPr>
      </p:pic>
      <p:sp>
        <p:nvSpPr>
          <p:cNvPr id="4" name="title"/>
          <p:cNvSpPr>
            <a:spLocks noGrp="1"/>
          </p:cNvSpPr>
          <p:nvPr/>
        </p:nvSpPr>
        <p:spPr>
          <a:xfrm>
            <a:off x="1651000" y="1651000"/>
            <a:ext cx="8890000" cy="120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buNone/>
            </a:pPr>
            <a:r>
              <a:rPr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基于多源信息融合的压裂施工参数智能精准调控方法</a:t>
            </a:r>
            <a:endParaRPr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info"/>
          <p:cNvSpPr>
            <a:spLocks noGrp="1"/>
          </p:cNvSpPr>
          <p:nvPr/>
        </p:nvSpPr>
        <p:spPr>
          <a:xfrm>
            <a:off x="2540000" y="4003675"/>
            <a:ext cx="7112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70000"/>
              </a:lnSpc>
              <a:buNone/>
            </a:pPr>
            <a:r>
              <a:rPr sz="2000" b="1">
                <a:solidFill>
                  <a:srgbClr val="23181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汇报人：李曦</a:t>
            </a:r>
            <a:endParaRPr sz="2000" b="1">
              <a:solidFill>
                <a:srgbClr val="23181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70000"/>
              </a:lnSpc>
              <a:buNone/>
            </a:pPr>
            <a:r>
              <a:rPr sz="2000" b="1">
                <a:solidFill>
                  <a:srgbClr val="23181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外协单位：武汉华夏智能技术有限公司</a:t>
            </a:r>
            <a:endParaRPr sz="2000" b="1">
              <a:solidFill>
                <a:srgbClr val="23181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70000"/>
              </a:lnSpc>
              <a:buNone/>
            </a:pPr>
            <a:r>
              <a:rPr sz="2000" b="1">
                <a:solidFill>
                  <a:srgbClr val="23181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合同编号：36650000-25-ZC0609-0020</a:t>
            </a:r>
            <a:endParaRPr sz="2000" b="1">
              <a:solidFill>
                <a:srgbClr val="23181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70000"/>
              </a:lnSpc>
              <a:buNone/>
            </a:pPr>
            <a:r>
              <a:rPr sz="2000" b="1">
                <a:solidFill>
                  <a:srgbClr val="23181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2026年7月 30 日</a:t>
            </a:r>
            <a:endParaRPr sz="2000" b="1">
              <a:solidFill>
                <a:srgbClr val="23181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code"/>
          <p:cNvSpPr>
            <a:spLocks noGrp="1"/>
          </p:cNvSpPr>
          <p:nvPr/>
        </p:nvSpPr>
        <p:spPr>
          <a:xfrm>
            <a:off x="9787890" y="234950"/>
            <a:ext cx="213106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</a:pPr>
            <a:r>
              <a:rPr sz="14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编号： </a:t>
            </a:r>
            <a:endParaRPr sz="14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buNone/>
            </a:pPr>
            <a:r>
              <a:rPr sz="14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序号： </a:t>
            </a:r>
            <a:endParaRPr sz="14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17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9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0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项目基本信息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x"/>
          <p:cNvSpPr>
            <a:spLocks noGrp="1"/>
          </p:cNvSpPr>
          <p:nvPr/>
        </p:nvSpPr>
        <p:spPr>
          <a:xfrm>
            <a:off x="1487170" y="1219200"/>
            <a:ext cx="10440670" cy="3556000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</p:sp>
      <p:sp>
        <p:nvSpPr>
          <p:cNvPr id="9" name="info"/>
          <p:cNvSpPr>
            <a:spLocks noGrp="1"/>
          </p:cNvSpPr>
          <p:nvPr/>
        </p:nvSpPr>
        <p:spPr>
          <a:xfrm>
            <a:off x="4445" y="1219200"/>
            <a:ext cx="11923395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ts val="4500"/>
              </a:lnSpc>
              <a:buNone/>
            </a:pPr>
            <a:r>
              <a:rPr sz="2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委托单位：</a:t>
            </a:r>
            <a:r>
              <a:rPr sz="2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2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4500"/>
              </a:lnSpc>
              <a:buNone/>
            </a:pPr>
            <a:r>
              <a:rPr sz="2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承担单位：</a:t>
            </a:r>
            <a:r>
              <a:rPr sz="2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武汉华夏智能技术有限公司</a:t>
            </a:r>
            <a:endParaRPr sz="2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4500"/>
              </a:lnSpc>
              <a:buNone/>
            </a:pPr>
            <a:r>
              <a:rPr sz="2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合同编号：</a:t>
            </a:r>
            <a:r>
              <a:rPr sz="2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36650000-25-ZC0609-0020</a:t>
            </a:r>
            <a:endParaRPr sz="2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4500"/>
              </a:lnSpc>
              <a:buNone/>
            </a:pPr>
            <a:r>
              <a:rPr sz="2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项目负责人：</a:t>
            </a:r>
            <a:r>
              <a:rPr sz="2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李曦</a:t>
            </a:r>
            <a:endParaRPr sz="2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4500"/>
              </a:lnSpc>
              <a:buNone/>
            </a:pPr>
            <a:r>
              <a:rPr sz="2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主要参加人：</a:t>
            </a:r>
            <a:endParaRPr sz="2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4500"/>
              </a:lnSpc>
              <a:buNone/>
            </a:pPr>
            <a:r>
              <a:rPr sz="2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研究周期：</a:t>
            </a:r>
            <a:r>
              <a:rPr sz="2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2025年7月—2026年6月</a:t>
            </a:r>
            <a:endParaRPr sz="2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x2"/>
          <p:cNvSpPr>
            <a:spLocks noGrp="1"/>
          </p:cNvSpPr>
          <p:nvPr/>
        </p:nvSpPr>
        <p:spPr>
          <a:xfrm>
            <a:off x="735330" y="4978400"/>
            <a:ext cx="1044067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1" name="info2"/>
          <p:cNvSpPr>
            <a:spLocks noGrp="1"/>
          </p:cNvSpPr>
          <p:nvPr/>
        </p:nvSpPr>
        <p:spPr>
          <a:xfrm>
            <a:off x="962660" y="5054600"/>
            <a:ext cx="9982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3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项目定位：</a:t>
            </a: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面向压裂施工知识组织、裂缝扩展数字孪生和人机协同调控，形成“数据—模型—反演—决策—验证”全流程原型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sz="13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交付形态：</a:t>
            </a: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算法源代码、数据清单、模型权重、验证指标、三维可视化、智能体策略、统一运行接口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11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" y="0"/>
            <a:ext cx="12158980" cy="6858000"/>
          </a:xfrm>
          <a:prstGeom prst="rect">
            <a:avLst/>
          </a:prstGeom>
          <a:ln>
            <a:noFill/>
          </a:ln>
        </p:spPr>
      </p:pic>
      <p:sp>
        <p:nvSpPr>
          <p:cNvPr id="4" name="contents"/>
          <p:cNvSpPr>
            <a:spLocks noGrp="1"/>
          </p:cNvSpPr>
          <p:nvPr/>
        </p:nvSpPr>
        <p:spPr>
          <a:xfrm>
            <a:off x="9472930" y="1818640"/>
            <a:ext cx="1644650" cy="4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32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Contents</a:t>
            </a:r>
            <a:endParaRPr sz="320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mulu"/>
          <p:cNvSpPr>
            <a:spLocks noGrp="1"/>
          </p:cNvSpPr>
          <p:nvPr/>
        </p:nvSpPr>
        <p:spPr>
          <a:xfrm>
            <a:off x="9465310" y="2294890"/>
            <a:ext cx="694690" cy="3695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录</a:t>
            </a:r>
            <a:endParaRPr sz="2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rrow"/>
          <p:cNvSpPr>
            <a:spLocks noGrp="1"/>
          </p:cNvSpPr>
          <p:nvPr/>
        </p:nvSpPr>
        <p:spPr>
          <a:xfrm>
            <a:off x="1316990" y="1845310"/>
            <a:ext cx="683260" cy="5105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7" name="items"/>
          <p:cNvSpPr>
            <a:spLocks noGrp="1"/>
          </p:cNvSpPr>
          <p:nvPr/>
        </p:nvSpPr>
        <p:spPr>
          <a:xfrm>
            <a:off x="2514600" y="1798320"/>
            <a:ext cx="5961380" cy="3909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>
              <a:lnSpc>
                <a:spcPts val="5200"/>
              </a:lnSpc>
              <a:buNone/>
            </a:pPr>
            <a:r>
              <a:rPr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一、规定研究任务及指标完成情况</a:t>
            </a:r>
            <a:endParaRPr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5200"/>
              </a:lnSpc>
              <a:buNone/>
            </a:pPr>
            <a:r>
              <a:rPr sz="24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4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5200"/>
              </a:lnSpc>
              <a:buNone/>
            </a:pPr>
            <a:r>
              <a:rPr sz="24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三、HSE 风险辨识与控制措施</a:t>
            </a:r>
            <a:endParaRPr sz="24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5200"/>
              </a:lnSpc>
              <a:buNone/>
            </a:pPr>
            <a:r>
              <a:rPr sz="24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四、项目可持续性或应用前景</a:t>
            </a:r>
            <a:endParaRPr sz="24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5200"/>
              </a:lnSpc>
              <a:buNone/>
            </a:pPr>
            <a:r>
              <a:rPr sz="24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五、组织管理及经费使用情况</a:t>
            </a:r>
            <a:endParaRPr sz="24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5200"/>
              </a:lnSpc>
              <a:buNone/>
            </a:pPr>
            <a:r>
              <a:rPr sz="24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六、今后工作的建议</a:t>
            </a:r>
            <a:endParaRPr sz="24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33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5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36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一、规定研究任务及指标完成情况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（一）合同任务与总体技术路线：三条主线形成统一智能压裂闭环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low-bg"/>
          <p:cNvSpPr>
            <a:spLocks noGrp="1"/>
          </p:cNvSpPr>
          <p:nvPr/>
        </p:nvSpPr>
        <p:spPr>
          <a:xfrm>
            <a:off x="508000" y="1320800"/>
            <a:ext cx="11176000" cy="8382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0" name="flow"/>
          <p:cNvSpPr>
            <a:spLocks noGrp="1"/>
          </p:cNvSpPr>
          <p:nvPr/>
        </p:nvSpPr>
        <p:spPr>
          <a:xfrm>
            <a:off x="660400" y="1397000"/>
            <a:ext cx="10871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专家知识、施工秒点、DAS分簇监测、施工压力、井轨迹 </a:t>
            </a:r>
            <a:r>
              <a:rPr sz="1250">
                <a:solidFill>
                  <a:srgbClr val="E6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多模态数据库与时空对齐 </a:t>
            </a:r>
            <a:r>
              <a:rPr sz="1250">
                <a:solidFill>
                  <a:srgbClr val="E6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工况识别、知识图谱与迁移学习 </a:t>
            </a:r>
            <a:r>
              <a:rPr sz="1250">
                <a:solidFill>
                  <a:srgbClr val="E6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PKN/BEM正演 + EnKF物理参数反演</a:t>
            </a:r>
            <a:r>
              <a:rPr sz="1250">
                <a:solidFill>
                  <a:srgbClr val="E6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未来60秒动作响应与风险预测 </a:t>
            </a:r>
            <a:r>
              <a:rPr sz="1250">
                <a:solidFill>
                  <a:srgbClr val="E6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分层强化学习决策 </a:t>
            </a:r>
            <a:r>
              <a:rPr sz="1250">
                <a:solidFill>
                  <a:srgbClr val="E6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人工确认、180秒安全验证与三维展示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techroute"/>
          <p:cNvPicPr>
            <a:picLocks noChangeAspect="1"/>
          </p:cNvPicPr>
          <p:nvPr/>
        </p:nvPicPr>
        <p:blipFill>
          <a:blip r:embed="rId5"/>
          <a:srcRect t="-32" b="-32"/>
          <a:stretch>
            <a:fillRect/>
          </a:stretch>
        </p:blipFill>
        <p:spPr>
          <a:xfrm>
            <a:off x="508000" y="2311400"/>
            <a:ext cx="6350000" cy="3238500"/>
          </a:xfrm>
          <a:prstGeom prst="rect">
            <a:avLst/>
          </a:prstGeom>
          <a:ln>
            <a:noFill/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pic>
      <p:sp>
        <p:nvSpPr>
          <p:cNvPr id="12" name="techroute-border"/>
          <p:cNvSpPr>
            <a:spLocks noGrp="1"/>
          </p:cNvSpPr>
          <p:nvPr/>
        </p:nvSpPr>
        <p:spPr>
          <a:xfrm>
            <a:off x="508000" y="2311400"/>
            <a:ext cx="6350000" cy="32385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3" name="cap1"/>
          <p:cNvSpPr>
            <a:spLocks noGrp="1"/>
          </p:cNvSpPr>
          <p:nvPr/>
        </p:nvSpPr>
        <p:spPr>
          <a:xfrm>
            <a:off x="508000" y="56134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项目总体技术思路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rt1-bg"/>
          <p:cNvSpPr>
            <a:spLocks noGrp="1"/>
          </p:cNvSpPr>
          <p:nvPr/>
        </p:nvSpPr>
        <p:spPr>
          <a:xfrm>
            <a:off x="7061200" y="2311400"/>
            <a:ext cx="4673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6" name="part1-title"/>
          <p:cNvSpPr>
            <a:spLocks noGrp="1"/>
          </p:cNvSpPr>
          <p:nvPr/>
        </p:nvSpPr>
        <p:spPr>
          <a:xfrm>
            <a:off x="7264400" y="24638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第一部分：知识与识别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part1-body"/>
          <p:cNvSpPr>
            <a:spLocks noGrp="1"/>
          </p:cNvSpPr>
          <p:nvPr/>
        </p:nvSpPr>
        <p:spPr>
          <a:xfrm>
            <a:off x="7264400" y="2781300"/>
            <a:ext cx="4292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专家知识图谱、小样本学习、迁移学习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增强与重采样、多模态数据库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part2-bg"/>
          <p:cNvSpPr>
            <a:spLocks noGrp="1"/>
          </p:cNvSpPr>
          <p:nvPr/>
        </p:nvSpPr>
        <p:spPr>
          <a:xfrm>
            <a:off x="7061200" y="3530600"/>
            <a:ext cx="4673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0" name="part2-title"/>
          <p:cNvSpPr>
            <a:spLocks noGrp="1"/>
          </p:cNvSpPr>
          <p:nvPr/>
        </p:nvSpPr>
        <p:spPr>
          <a:xfrm>
            <a:off x="7264400" y="36830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第二部分：数字孪生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part2-body"/>
          <p:cNvSpPr>
            <a:spLocks noGrp="1"/>
          </p:cNvSpPr>
          <p:nvPr/>
        </p:nvSpPr>
        <p:spPr>
          <a:xfrm>
            <a:off x="7264400" y="3987800"/>
            <a:ext cx="4292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多源融合、裂缝几何正演、EnKF在线反演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数字孪生闭环与三维展示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part3-bg"/>
          <p:cNvSpPr>
            <a:spLocks noGrp="1"/>
          </p:cNvSpPr>
          <p:nvPr/>
        </p:nvSpPr>
        <p:spPr>
          <a:xfrm>
            <a:off x="7061200" y="4749800"/>
            <a:ext cx="4673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4" name="part3-title"/>
          <p:cNvSpPr>
            <a:spLocks noGrp="1"/>
          </p:cNvSpPr>
          <p:nvPr/>
        </p:nvSpPr>
        <p:spPr>
          <a:xfrm>
            <a:off x="7264400" y="487807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第三部分：智能调控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part3-body"/>
          <p:cNvSpPr>
            <a:spLocks noGrp="1"/>
          </p:cNvSpPr>
          <p:nvPr/>
        </p:nvSpPr>
        <p:spPr>
          <a:xfrm>
            <a:off x="7264400" y="5259070"/>
            <a:ext cx="4292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物理约束分层智能体、不确定性决策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人机协同、多工况训练验证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17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9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0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一、规定研究任务及指标完成情况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（二）研究内容及完成情况：十二项合同内容均已形成代码基础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3" name="tbl"/>
          <p:cNvGraphicFramePr/>
          <p:nvPr/>
        </p:nvGraphicFramePr>
        <p:xfrm>
          <a:off x="381000" y="1295400"/>
          <a:ext cx="11430000" cy="4673600"/>
        </p:xfrm>
        <a:graphic>
          <a:graphicData uri="http://schemas.openxmlformats.org/drawingml/2006/table">
            <a:tbl>
              <a:tblPr/>
              <a:tblGrid>
                <a:gridCol w="2400300"/>
                <a:gridCol w="5829300"/>
                <a:gridCol w="3200400"/>
              </a:tblGrid>
              <a:tr h="35519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合同模块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当前主要实现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当前状态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1.1 GNN专家知识图谱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全书知识抽取、GraphML/JSON图谱、GNN工况识别、规则融合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已形成原型与可视化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1.2 迁移学习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源域预训练、迁移集支持/查询划分、微调评估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已完成阶段实验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1.3 增强与重采样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类别权重、异常过采样、噪声增强、加砂后截断、动态特征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已接入训练流程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1.4 多模态数据库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施工秒点、标签、书籍图文、光纤、压力、井轨迹及manifest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已形成统一数据目录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2.1 多源融合与同步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光纤文本/API、压力表、井轨迹适配器和统一控制量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已完成真实数据接入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2.2 裂缝反演模型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coupled PKN、reduced BEM、数据代理统一正演接口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已完成可替换模型框架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2.3 EnKF实时修正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更新物理参数及分簇参数，重新正演生成后验结果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已完成直接观测验证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2.4 数字孪生闭环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正演—观测—残差—参数更新—再正演—3D播放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已形成Web演示闭环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3.1 物理约束HRL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规则高层选项 + PPO/SAC低层连续控制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已形成轻量分层原型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3.2 不确定性决策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模型残差、异常概率、越界动作、OOD评分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已接入风险判断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3.3 人机协同接口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建议模式、权限分级、二次确认、证据字段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已形成接口原型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359867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3.4 多工况仿真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历史回放、六类压力测试、真实动作响应代理、180秒验证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已形成训练验证链路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note"/>
          <p:cNvSpPr>
            <a:spLocks noGrp="1"/>
          </p:cNvSpPr>
          <p:nvPr/>
        </p:nvSpPr>
        <p:spPr>
          <a:xfrm>
            <a:off x="381000" y="592582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注：表中状态为研发进度口径；现场级验证最终以项目组统一确认为准。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3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5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6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一、规定研究任务及指标完成情况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（三）技术经济指标完成情况：核心链路可验证，最终指标按统一验收数据复测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9" name="tbl"/>
          <p:cNvGraphicFramePr/>
          <p:nvPr/>
        </p:nvGraphicFramePr>
        <p:xfrm>
          <a:off x="381000" y="1295400"/>
          <a:ext cx="11430000" cy="4445889"/>
        </p:xfrm>
        <a:graphic>
          <a:graphicData uri="http://schemas.openxmlformats.org/drawingml/2006/table">
            <a:tbl>
              <a:tblPr/>
              <a:tblGrid>
                <a:gridCol w="2286000"/>
                <a:gridCol w="5372100"/>
                <a:gridCol w="3771900"/>
              </a:tblGrid>
              <a:tr h="44450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合同指标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当前阶段证据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验收判断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</a:tr>
              <a:tr h="5716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不少于10000组多模态数据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工况训练图样本约13.7万组；统一manifest登记157项数据资产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1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数据量满足；数据库规范性继续完善</a:t>
                      </a:r>
                      <a:endParaRPr sz="1100">
                        <a:solidFill>
                          <a:srgbClr val="0061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C6EFCE"/>
                    </a:solidFill>
                  </a:tcPr>
                </a:tc>
              </a:tr>
              <a:tr h="5716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算法预测精度大于95%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两阶段多类Accuracy约78.40%，二分类约82.33%；迁移后Accuracy约64.14%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9C000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未达95%；需补充异常样本、统一指标口径</a:t>
                      </a:r>
                      <a:endParaRPr sz="1100">
                        <a:solidFill>
                          <a:srgbClr val="9C000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FFC7CE"/>
                    </a:solidFill>
                  </a:tcPr>
                </a:tc>
              </a:tr>
              <a:tr h="5716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反演误差15%以内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留出验证：分簇液量TVD 6.19%、砂量TVD 7.10%、井底压力相对误差4.04%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9C6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观测空间满足；尚无独立真实缝长标签</a:t>
                      </a:r>
                      <a:endParaRPr sz="1100">
                        <a:solidFill>
                          <a:srgbClr val="9C6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FFEB9C"/>
                    </a:solidFill>
                  </a:tcPr>
                </a:tc>
              </a:tr>
              <a:tr h="5716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计算时间15秒以内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PKN-EnKF全步P95约57.30 ms；测试步15秒内通过率100%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0061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当前计算链路满足</a:t>
                      </a:r>
                      <a:endParaRPr sz="1100">
                        <a:solidFill>
                          <a:srgbClr val="0061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C6EFCE"/>
                    </a:solidFill>
                  </a:tcPr>
                </a:tc>
              </a:tr>
              <a:tr h="5716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提前5分钟预警并调控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已实现当前300秒状态输入、未来60秒动作决策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9C000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尚未达到5分钟预测口径</a:t>
                      </a:r>
                      <a:endParaRPr sz="1100">
                        <a:solidFill>
                          <a:srgbClr val="9C000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FFC7CE"/>
                    </a:solidFill>
                  </a:tcPr>
                </a:tc>
              </a:tr>
              <a:tr h="5716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15秒内计算调整效果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环境单步由代理模型+PKN-EnKF快速返回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9C65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需按正式软硬件环境专项计时</a:t>
                      </a:r>
                      <a:endParaRPr sz="1100">
                        <a:solidFill>
                          <a:srgbClr val="9C65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FFEB9C"/>
                    </a:solidFill>
                  </a:tcPr>
                </a:tc>
              </a:tr>
              <a:tr h="5716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调整后180秒无异常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10万步实验安全率82.16%，加权回放最佳阶段结果90.28%；砂堵场景仍为短板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9C000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未最终达标；继续训练和现场校准</a:t>
                      </a:r>
                      <a:endParaRPr sz="1100">
                        <a:solidFill>
                          <a:srgbClr val="9C000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FFC7CE"/>
                    </a:solidFill>
                  </a:tcPr>
                </a:tc>
              </a:tr>
            </a:tbl>
          </a:graphicData>
        </a:graphic>
      </p:graphicFrame>
      <p:sp>
        <p:nvSpPr>
          <p:cNvPr id="10" name="lg1"/>
          <p:cNvSpPr>
            <a:spLocks noGrp="1"/>
          </p:cNvSpPr>
          <p:nvPr/>
        </p:nvSpPr>
        <p:spPr>
          <a:xfrm>
            <a:off x="762000" y="5892800"/>
            <a:ext cx="152400" cy="152400"/>
          </a:xfrm>
          <a:prstGeom prst="rect">
            <a:avLst/>
          </a:prstGeom>
          <a:solidFill>
            <a:srgbClr val="C6EFCE"/>
          </a:solidFill>
          <a:ln>
            <a:noFill/>
          </a:ln>
        </p:spPr>
      </p:sp>
      <p:sp>
        <p:nvSpPr>
          <p:cNvPr id="11" name="lgt1"/>
          <p:cNvSpPr>
            <a:spLocks noGrp="1"/>
          </p:cNvSpPr>
          <p:nvPr/>
        </p:nvSpPr>
        <p:spPr>
          <a:xfrm>
            <a:off x="965200" y="58420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0061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已达标</a:t>
            </a:r>
            <a:endParaRPr sz="1100">
              <a:solidFill>
                <a:srgbClr val="0061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lg2"/>
          <p:cNvSpPr>
            <a:spLocks noGrp="1"/>
          </p:cNvSpPr>
          <p:nvPr/>
        </p:nvSpPr>
        <p:spPr>
          <a:xfrm>
            <a:off x="2032000" y="5892800"/>
            <a:ext cx="152400" cy="152400"/>
          </a:xfrm>
          <a:prstGeom prst="rect">
            <a:avLst/>
          </a:prstGeom>
          <a:solidFill>
            <a:srgbClr val="FFEB9C"/>
          </a:solidFill>
          <a:ln>
            <a:noFill/>
          </a:ln>
        </p:spPr>
      </p:sp>
      <p:sp>
        <p:nvSpPr>
          <p:cNvPr id="13" name="lgt2"/>
          <p:cNvSpPr>
            <a:spLocks noGrp="1"/>
          </p:cNvSpPr>
          <p:nvPr/>
        </p:nvSpPr>
        <p:spPr>
          <a:xfrm>
            <a:off x="2235200" y="58420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9C6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阶段性通过</a:t>
            </a:r>
            <a:endParaRPr sz="1100">
              <a:solidFill>
                <a:srgbClr val="9C6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lg3"/>
          <p:cNvSpPr>
            <a:spLocks noGrp="1"/>
          </p:cNvSpPr>
          <p:nvPr/>
        </p:nvSpPr>
        <p:spPr>
          <a:xfrm>
            <a:off x="3556000" y="5892800"/>
            <a:ext cx="152400" cy="152400"/>
          </a:xfrm>
          <a:prstGeom prst="rect">
            <a:avLst/>
          </a:prstGeom>
          <a:solidFill>
            <a:srgbClr val="FFC7CE"/>
          </a:solidFill>
          <a:ln>
            <a:noFill/>
          </a:ln>
        </p:spPr>
      </p:sp>
      <p:sp>
        <p:nvSpPr>
          <p:cNvPr id="15" name="lgt3"/>
          <p:cNvSpPr>
            <a:spLocks noGrp="1"/>
          </p:cNvSpPr>
          <p:nvPr/>
        </p:nvSpPr>
        <p:spPr>
          <a:xfrm>
            <a:off x="3759200" y="5842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9C00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尚未达标</a:t>
            </a:r>
            <a:endParaRPr sz="1100">
              <a:solidFill>
                <a:srgbClr val="9C00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30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2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33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成果总览：形成四类成果、十项可交付能力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1-bg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08000" y="1397000"/>
            <a:ext cx="5461000" cy="218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1" name="c1-title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85800" y="1537335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成果1：专家知识与小样本识别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1-body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11200" y="1955800"/>
            <a:ext cx="5080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285750" algn="l">
              <a:lnSpc>
                <a:spcPct val="14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全书知识图谱、规则库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4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工况标签体系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4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GNN/两阶段工况识别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4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迁移学习、长尾增强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2-bg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223000" y="1397000"/>
            <a:ext cx="5461000" cy="218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5" name="c2-title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426200" y="1537335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成果2：多源数据驱动数字孪生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2-body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426200" y="1955800"/>
            <a:ext cx="5080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285750" algn="l">
              <a:lnSpc>
                <a:spcPct val="145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DAS/施工压力/井轨迹接入和时空同步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45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coupled PKN、BEM替代接口、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45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EnKF参数反演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45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直接观测验证和三维裂缝动态展示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c3-bg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08000" y="3759200"/>
            <a:ext cx="5461000" cy="218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c3-title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11200" y="38989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成果3：知识嵌入智能体与仿真训练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c3-body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11200" y="4318000"/>
            <a:ext cx="5080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285750" algn="l">
              <a:lnSpc>
                <a:spcPct val="145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分层PPO/SAC控制环境、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45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奖励函数、安全边界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45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真实动作响应代理、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45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场景训练、180秒验证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4-bg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223000" y="3759200"/>
            <a:ext cx="5461000" cy="218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3" name="c4-title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426200" y="38989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成果4：工程化交付体系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c4-body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426200" y="4318000"/>
            <a:ext cx="5080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285750" algn="l">
              <a:lnSpc>
                <a:spcPct val="145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统一数据manifest、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45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CLI/API、模型产物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45000"/>
              </a:lnSpc>
              <a:spcBef>
                <a:spcPts val="3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13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指标快照、测试报告与源码指纹</a:t>
            </a:r>
            <a:endParaRPr sz="13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成果2-1：由施工压力换算井底压力和净压力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施工压力输入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秒点字段：累计液量、排量、施工压力、砂比；同步到光纤时间轴后计算液柱压力、沿程摩阻和孔眼摩阻。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alc-bg"/>
          <p:cNvSpPr>
            <a:spLocks noGrp="1"/>
          </p:cNvSpPr>
          <p:nvPr/>
        </p:nvSpPr>
        <p:spPr>
          <a:xfrm>
            <a:off x="508000" y="3200400"/>
            <a:ext cx="5969000" cy="8382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2" name="calc"/>
          <p:cNvSpPr>
            <a:spLocks noGrp="1"/>
          </p:cNvSpPr>
          <p:nvPr/>
        </p:nvSpPr>
        <p:spPr>
          <a:xfrm>
            <a:off x="711200" y="3276600"/>
            <a:ext cx="558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50000"/>
              </a:lnSpc>
              <a:buNone/>
            </a:pPr>
            <a:r>
              <a:rPr sz="13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井底压力 = 施工压力 + 液柱压力 − 沿程摩阻 − 孔眼摩阻</a:t>
            </a:r>
            <a:endParaRPr sz="13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3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净压力 = 井底压力 − 最小水平主应力</a:t>
            </a:r>
            <a:endParaRPr sz="13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h2"/>
          <p:cNvSpPr>
            <a:spLocks noGrp="1"/>
          </p:cNvSpPr>
          <p:nvPr/>
        </p:nvSpPr>
        <p:spPr>
          <a:xfrm>
            <a:off x="508000" y="5226685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专家参数口径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detail"/>
          <p:cNvSpPr>
            <a:spLocks noGrp="1"/>
          </p:cNvSpPr>
          <p:nvPr/>
        </p:nvSpPr>
        <p:spPr>
          <a:xfrm>
            <a:off x="508000" y="55118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射孔孔眼数48，初始孔径10 mm；液柱压力按混合液密度、垂深和重力计算；沿程摩阻考虑管径、长度、排量和经验摩阻系数。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das-border"/>
          <p:cNvSpPr>
            <a:spLocks noGrp="1"/>
          </p:cNvSpPr>
          <p:nvPr/>
        </p:nvSpPr>
        <p:spPr>
          <a:xfrm>
            <a:off x="6731000" y="1498600"/>
            <a:ext cx="5029200" cy="29210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dascap"/>
          <p:cNvSpPr>
            <a:spLocks noGrp="1"/>
          </p:cNvSpPr>
          <p:nvPr/>
        </p:nvSpPr>
        <p:spPr>
          <a:xfrm>
            <a:off x="6762750" y="1428750"/>
            <a:ext cx="4857750" cy="342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压力换算链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P_bh = P_surface + P_hydrostatic − ΔP_pipe − ΔP_perf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P_net = P_bh − σ_min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已采用：48孔、初始孔径10 mm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液柱压力：混合液密度 × 垂深 × g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沿程摩阻：管径、长度、排量和经验摩阻系数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孔眼摩阻：孔数、孔径、流量系数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当前未计入裂缝弯曲摩阻。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note-bg"/>
          <p:cNvSpPr>
            <a:spLocks noGrp="1"/>
          </p:cNvSpPr>
          <p:nvPr/>
        </p:nvSpPr>
        <p:spPr>
          <a:xfrm>
            <a:off x="6731000" y="4826000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note"/>
          <p:cNvSpPr>
            <a:spLocks noGrp="1"/>
          </p:cNvSpPr>
          <p:nvPr/>
        </p:nvSpPr>
        <p:spPr>
          <a:xfrm>
            <a:off x="6934200" y="4953000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当前简化模型不含裂缝弯曲摩阻；经验系数和地应力仍需按现场标定。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成果2-1：井轨迹、光纤与压力形成统一时空输入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时空同步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井轨迹提供测深、垂深、北向和东向坐标；段号确定目标区间；时间戳连接施工压力与光纤分簇监测；簇号连接分簇控制量和裂缝状态。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alc-bg"/>
          <p:cNvSpPr>
            <a:spLocks noGrp="1"/>
          </p:cNvSpPr>
          <p:nvPr/>
        </p:nvSpPr>
        <p:spPr>
          <a:xfrm>
            <a:off x="508000" y="3200400"/>
            <a:ext cx="5969000" cy="8382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2" name="calc"/>
          <p:cNvSpPr>
            <a:spLocks noGrp="1"/>
          </p:cNvSpPr>
          <p:nvPr/>
        </p:nvSpPr>
        <p:spPr>
          <a:xfrm>
            <a:off x="711200" y="3276600"/>
            <a:ext cx="558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50000"/>
              </a:lnSpc>
              <a:buNone/>
            </a:pPr>
            <a:r>
              <a:rPr sz="13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统一控制量 u(t)：总排量、砂比、累计液砂量</a:t>
            </a:r>
            <a:endParaRPr sz="13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3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统一观测量 y(t)：各簇液量份额、砂量份额、井底压力</a:t>
            </a:r>
            <a:endParaRPr sz="13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h2"/>
          <p:cNvSpPr>
            <a:spLocks noGrp="1"/>
          </p:cNvSpPr>
          <p:nvPr/>
        </p:nvSpPr>
        <p:spPr>
          <a:xfrm>
            <a:off x="508000" y="4191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输出到数字孪生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detail"/>
          <p:cNvSpPr>
            <a:spLocks noGrp="1"/>
          </p:cNvSpPr>
          <p:nvPr/>
        </p:nvSpPr>
        <p:spPr>
          <a:xfrm>
            <a:off x="508000" y="4521200"/>
            <a:ext cx="59690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stage_info_to_controls()生成正演控制；光纤观测算子生成簇级观测；井轨迹用于3D裂缝定位和显示。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das-border"/>
          <p:cNvSpPr>
            <a:spLocks noGrp="1"/>
          </p:cNvSpPr>
          <p:nvPr/>
        </p:nvSpPr>
        <p:spPr>
          <a:xfrm>
            <a:off x="6731000" y="1498600"/>
            <a:ext cx="5029200" cy="29210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dascap"/>
          <p:cNvSpPr>
            <a:spLocks noGrp="1"/>
          </p:cNvSpPr>
          <p:nvPr/>
        </p:nvSpPr>
        <p:spPr>
          <a:xfrm>
            <a:off x="6762750" y="1428750"/>
            <a:ext cx="4857750" cy="342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统一时空数据记录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索引：(well, stage, timestamp, cluster_id)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控制量 u(t)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总排量、砂比、累计液量、累计砂量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观测量 y(t)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各簇液量份额、各簇砂量份额、井底压力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井轨迹用于将簇位置映射到3D坐标；时间戳用于压力与光纤记录对齐。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note-bg"/>
          <p:cNvSpPr>
            <a:spLocks noGrp="1"/>
          </p:cNvSpPr>
          <p:nvPr/>
        </p:nvSpPr>
        <p:spPr>
          <a:xfrm>
            <a:off x="6731000" y="4826000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note"/>
          <p:cNvSpPr>
            <a:spLocks noGrp="1"/>
          </p:cNvSpPr>
          <p:nvPr/>
        </p:nvSpPr>
        <p:spPr>
          <a:xfrm>
            <a:off x="6934200" y="4953000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三类真实数据已形成可重复加载的第8段数据链路。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2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4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5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成果2-2：PKN提供快速、可解释的裂缝正演基底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基础PKN输入与关系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输入：平面应变模量E′、黏度μ、裂缝高度H、排量Q、滤失系数CL和时间t。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基本关系：注入液体在裂缝体积、滤失体积和井筒/孔眼压降之间守恒。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ut-bg"/>
          <p:cNvSpPr>
            <a:spLocks noGrp="1"/>
          </p:cNvSpPr>
          <p:nvPr/>
        </p:nvSpPr>
        <p:spPr>
          <a:xfrm>
            <a:off x="508000" y="5130800"/>
            <a:ext cx="6096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2" name="out"/>
          <p:cNvSpPr>
            <a:spLocks noGrp="1"/>
          </p:cNvSpPr>
          <p:nvPr/>
        </p:nvSpPr>
        <p:spPr>
          <a:xfrm>
            <a:off x="711200" y="5232400"/>
            <a:ext cx="571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输出：每簇裂缝半长、派生缝宽、面积、体积、净压力和井底压力。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pkn"/>
          <p:cNvPicPr>
            <a:picLocks noChangeAspect="1"/>
          </p:cNvPicPr>
          <p:nvPr/>
        </p:nvPicPr>
        <p:blipFill>
          <a:blip r:embed="rId5"/>
          <a:srcRect t="-321" b="-321"/>
          <a:stretch>
            <a:fillRect/>
          </a:stretch>
        </p:blipFill>
        <p:spPr>
          <a:xfrm>
            <a:off x="6858000" y="1498600"/>
            <a:ext cx="4826000" cy="4064000"/>
          </a:xfrm>
          <a:prstGeom prst="rect">
            <a:avLst/>
          </a:prstGeom>
          <a:ln>
            <a:noFill/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pic>
      <p:sp>
        <p:nvSpPr>
          <p:cNvPr id="14" name="pkn-border"/>
          <p:cNvSpPr>
            <a:spLocks noGrp="1"/>
          </p:cNvSpPr>
          <p:nvPr/>
        </p:nvSpPr>
        <p:spPr>
          <a:xfrm>
            <a:off x="6858000" y="1498600"/>
            <a:ext cx="4826000" cy="40640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pkncap"/>
          <p:cNvSpPr>
            <a:spLocks noGrp="1"/>
          </p:cNvSpPr>
          <p:nvPr/>
        </p:nvSpPr>
        <p:spPr>
          <a:xfrm>
            <a:off x="6858000" y="5638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PKN解析模型的裂缝长度—宽度—压力关系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1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3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4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成果2-2：coupled PKN引入施工历史、滤失上限和质量守恒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历史量与瞬时量分离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累计注入量用于裂缝历史生长；当前总排量用于瞬时缝宽和净压力，避免把一次排量突变误认为整个历史过程。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Carter滤失受累计注入体积约束，滤失量不得超过实际注入量。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ut-bg"/>
          <p:cNvSpPr>
            <a:spLocks noGrp="1"/>
          </p:cNvSpPr>
          <p:nvPr/>
        </p:nvSpPr>
        <p:spPr>
          <a:xfrm>
            <a:off x="508000" y="5130800"/>
            <a:ext cx="6096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2" name="out"/>
          <p:cNvSpPr>
            <a:spLocks noGrp="1"/>
          </p:cNvSpPr>
          <p:nvPr/>
        </p:nvSpPr>
        <p:spPr>
          <a:xfrm>
            <a:off x="711200" y="5232400"/>
            <a:ext cx="571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分簇系数只重分配流量，不改变总施工排量；最大流量守恒误差约2.38×10⁻¹⁶。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kn-border"/>
          <p:cNvSpPr>
            <a:spLocks noGrp="1"/>
          </p:cNvSpPr>
          <p:nvPr/>
        </p:nvSpPr>
        <p:spPr>
          <a:xfrm>
            <a:off x="6858000" y="1498600"/>
            <a:ext cx="4826000" cy="40640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pkncap"/>
          <p:cNvSpPr>
            <a:spLocks noGrp="1"/>
          </p:cNvSpPr>
          <p:nvPr/>
        </p:nvSpPr>
        <p:spPr>
          <a:xfrm>
            <a:off x="6810375" y="1476375"/>
            <a:ext cx="4762500" cy="323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质量守恒与历史量处理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V_inj(t)=∫Q(τ)dτ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V_effective = V_inj − V_leakoff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V_leakoff ≤ V_inj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累计注入量决定历史裂缝生长；当前排量只决定瞬时缝宽和压力。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分簇系数仅重新分配Q_total，满足 ΣQ_i=Q_total。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1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3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4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成果2-2：分簇导流与应力遮挡表达多簇竞争扩展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分簇耦合机制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609600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根据入口能力和缝宽反馈递推分配总流量；邻簇高排量产生应力遮挡并抑制相邻裂缝；液量入口系数与携砂系数分离，分别解释液量和砂量分配。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ut-bg"/>
          <p:cNvSpPr>
            <a:spLocks noGrp="1"/>
          </p:cNvSpPr>
          <p:nvPr/>
        </p:nvSpPr>
        <p:spPr>
          <a:xfrm>
            <a:off x="508000" y="5130800"/>
            <a:ext cx="6096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2" name="out"/>
          <p:cNvSpPr>
            <a:spLocks noGrp="1"/>
          </p:cNvSpPr>
          <p:nvPr/>
        </p:nvSpPr>
        <p:spPr>
          <a:xfrm>
            <a:off x="711200" y="5232400"/>
            <a:ext cx="571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修复低排量/停泵数值异常：历史裂缝长度保持不倒退，瞬时缝宽和压力随当前工况调整。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kn-border"/>
          <p:cNvSpPr>
            <a:spLocks noGrp="1"/>
          </p:cNvSpPr>
          <p:nvPr/>
        </p:nvSpPr>
        <p:spPr>
          <a:xfrm>
            <a:off x="6858000" y="1498600"/>
            <a:ext cx="4826000" cy="40640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pkncap"/>
          <p:cNvSpPr>
            <a:spLocks noGrp="1"/>
          </p:cNvSpPr>
          <p:nvPr/>
        </p:nvSpPr>
        <p:spPr>
          <a:xfrm>
            <a:off x="6810375" y="1476375"/>
            <a:ext cx="4762500" cy="3333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分簇耦合递推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Q_i(t) ∝ inlet_i(t) × aperture_feedback_i(t) × stress_shadow_i(t)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入口系数：解释液量分配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携砂系数：解释砂量分配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应力遮挡：邻簇高排量对本簇产生抑制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停泵/低排量时保留历史裂缝长度，避免非物理倒退。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6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8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9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成果2-3：EnKF状态为PKN物理参数与分簇参数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tate-bg"/>
          <p:cNvSpPr>
            <a:spLocks noGrp="1"/>
          </p:cNvSpPr>
          <p:nvPr/>
        </p:nvSpPr>
        <p:spPr>
          <a:xfrm>
            <a:off x="508000" y="1320800"/>
            <a:ext cx="6096000" cy="7366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0" name="state"/>
          <p:cNvSpPr>
            <a:spLocks noGrp="1"/>
          </p:cNvSpPr>
          <p:nvPr/>
        </p:nvSpPr>
        <p:spPr>
          <a:xfrm>
            <a:off x="711200" y="1397000"/>
            <a:ext cx="5715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状态向量 x=[E′, CL, μ, σmin, f1…fN]；观测向量 y=[各簇液量份额、各簇砂量份额、井底压力]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1"/>
          <p:cNvSpPr>
            <a:spLocks noGrp="1"/>
          </p:cNvSpPr>
          <p:nvPr/>
        </p:nvSpPr>
        <p:spPr>
          <a:xfrm>
            <a:off x="508000" y="2209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集合正演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teps"/>
          <p:cNvSpPr>
            <a:spLocks noGrp="1"/>
          </p:cNvSpPr>
          <p:nvPr/>
        </p:nvSpPr>
        <p:spPr>
          <a:xfrm>
            <a:off x="508000" y="2540000"/>
            <a:ext cx="6096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为每个集合成员采样一组物理参数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每组参数独立运行PKN正演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由PKN结果计算可观测的液量、砂量和压力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形成状态—观测集合协方差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warn-bg"/>
          <p:cNvSpPr>
            <a:spLocks noGrp="1"/>
          </p:cNvSpPr>
          <p:nvPr/>
        </p:nvSpPr>
        <p:spPr>
          <a:xfrm>
            <a:off x="508000" y="5181600"/>
            <a:ext cx="6096000" cy="7874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14" name="warn"/>
          <p:cNvSpPr>
            <a:spLocks noGrp="1"/>
          </p:cNvSpPr>
          <p:nvPr/>
        </p:nvSpPr>
        <p:spPr>
          <a:xfrm>
            <a:off x="711200" y="5283200"/>
            <a:ext cx="5715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9C6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重要：集合成员的缝长只是PKN输出，不是EnKF直接修改的状态量。</a:t>
            </a:r>
            <a:endParaRPr sz="1200" b="1">
              <a:solidFill>
                <a:srgbClr val="9C6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enkf"/>
          <p:cNvPicPr>
            <a:picLocks noChangeAspect="1"/>
          </p:cNvPicPr>
          <p:nvPr/>
        </p:nvPicPr>
        <p:blipFill>
          <a:blip r:embed="rId5"/>
          <a:srcRect t="-111" b="-111"/>
          <a:stretch>
            <a:fillRect/>
          </a:stretch>
        </p:blipFill>
        <p:spPr>
          <a:xfrm>
            <a:off x="6858000" y="1498600"/>
            <a:ext cx="4826000" cy="2362200"/>
          </a:xfrm>
          <a:prstGeom prst="rect">
            <a:avLst/>
          </a:prstGeom>
          <a:ln>
            <a:noFill/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pic>
      <p:sp>
        <p:nvSpPr>
          <p:cNvPr id="16" name="enkf-border"/>
          <p:cNvSpPr>
            <a:spLocks noGrp="1"/>
          </p:cNvSpPr>
          <p:nvPr/>
        </p:nvSpPr>
        <p:spPr>
          <a:xfrm>
            <a:off x="6858000" y="1498600"/>
            <a:ext cx="4826000" cy="23622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enkfcap"/>
          <p:cNvSpPr>
            <a:spLocks noGrp="1"/>
          </p:cNvSpPr>
          <p:nvPr/>
        </p:nvSpPr>
        <p:spPr>
          <a:xfrm>
            <a:off x="6858000" y="39116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参数集合通过PKN映射到观测空间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loop-bg"/>
          <p:cNvSpPr>
            <a:spLocks noGrp="1"/>
          </p:cNvSpPr>
          <p:nvPr/>
        </p:nvSpPr>
        <p:spPr>
          <a:xfrm>
            <a:off x="6858000" y="4267200"/>
            <a:ext cx="4826000" cy="170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loop"/>
          <p:cNvSpPr>
            <a:spLocks noGrp="1"/>
          </p:cNvSpPr>
          <p:nvPr/>
        </p:nvSpPr>
        <p:spPr>
          <a:xfrm>
            <a:off x="7061200" y="4394200"/>
            <a:ext cx="44450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60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参数集合 → PKN正演 → 预测观测集合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成果2-3：用观测残差和Kalman Gain更新物理参数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tate-bg"/>
          <p:cNvSpPr>
            <a:spLocks noGrp="1"/>
          </p:cNvSpPr>
          <p:nvPr/>
        </p:nvSpPr>
        <p:spPr>
          <a:xfrm>
            <a:off x="508000" y="1320800"/>
            <a:ext cx="6096000" cy="7366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0" name="state"/>
          <p:cNvSpPr>
            <a:spLocks noGrp="1"/>
          </p:cNvSpPr>
          <p:nvPr/>
        </p:nvSpPr>
        <p:spPr>
          <a:xfrm>
            <a:off x="711200" y="1397000"/>
            <a:ext cx="5715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示例：预测井底压力92 MPa，实测96 MPa，残差+4 MPa；集合估计K_E′=0.012 GPa/MPa，K_σ=0.18 MPa/MPa。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1"/>
          <p:cNvSpPr>
            <a:spLocks noGrp="1"/>
          </p:cNvSpPr>
          <p:nvPr/>
        </p:nvSpPr>
        <p:spPr>
          <a:xfrm>
            <a:off x="508000" y="2209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数值更新示例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teps"/>
          <p:cNvSpPr>
            <a:spLocks noGrp="1"/>
          </p:cNvSpPr>
          <p:nvPr/>
        </p:nvSpPr>
        <p:spPr>
          <a:xfrm>
            <a:off x="508000" y="2540000"/>
            <a:ext cx="6096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E′后验 = 30.00 + 0.012×4 = 30.048 GPa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σmin后验 = 55.0 + 0.18×4 = 55.72 MPa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分簇参数按其与液砂份额残差的协方差同步更新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warn-bg"/>
          <p:cNvSpPr>
            <a:spLocks noGrp="1"/>
          </p:cNvSpPr>
          <p:nvPr/>
        </p:nvSpPr>
        <p:spPr>
          <a:xfrm>
            <a:off x="508000" y="5181600"/>
            <a:ext cx="6096000" cy="7874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14" name="warn"/>
          <p:cNvSpPr>
            <a:spLocks noGrp="1"/>
          </p:cNvSpPr>
          <p:nvPr/>
        </p:nvSpPr>
        <p:spPr>
          <a:xfrm>
            <a:off x="711200" y="5283200"/>
            <a:ext cx="5715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9C6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Kalman Gain由集合协方差和观测噪声计算，并非手工固定常数；示例数值仅用于解释计算方向。</a:t>
            </a:r>
            <a:endParaRPr sz="1200" b="1">
              <a:solidFill>
                <a:srgbClr val="9C6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nkf-border"/>
          <p:cNvSpPr>
            <a:spLocks noGrp="1"/>
          </p:cNvSpPr>
          <p:nvPr/>
        </p:nvSpPr>
        <p:spPr>
          <a:xfrm>
            <a:off x="6858000" y="1498600"/>
            <a:ext cx="4826000" cy="23622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enkfcap"/>
          <p:cNvSpPr>
            <a:spLocks noGrp="1"/>
          </p:cNvSpPr>
          <p:nvPr/>
        </p:nvSpPr>
        <p:spPr>
          <a:xfrm>
            <a:off x="6762750" y="1428750"/>
            <a:ext cx="4857750" cy="3524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带数值的参数更新示例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预测井底压力：92 MPa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现场观测：96 MPa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残差：r = 96 − 92 = +4 MPa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若集合协方差计算得到：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K_E′ = 0.012 GPa/MPa，K_σ = 0.18 MPa/MPa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E′ₐ = 30.00 + 0.012×4 = 30.048 GPa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σ_min,ₐ = 55.0 + 0.18×4 = 55.72 MPa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loop-bg"/>
          <p:cNvSpPr>
            <a:spLocks noGrp="1"/>
          </p:cNvSpPr>
          <p:nvPr/>
        </p:nvSpPr>
        <p:spPr>
          <a:xfrm>
            <a:off x="6858000" y="4267200"/>
            <a:ext cx="4826000" cy="170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loop"/>
          <p:cNvSpPr>
            <a:spLocks noGrp="1"/>
          </p:cNvSpPr>
          <p:nvPr/>
        </p:nvSpPr>
        <p:spPr>
          <a:xfrm>
            <a:off x="7061200" y="4394200"/>
            <a:ext cx="44450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60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xᵃ = xᶠ + K(y − H(xᶠ))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成果2-3：后验参数重新进入PKN，形成连续反演闭环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tate-bg"/>
          <p:cNvSpPr>
            <a:spLocks noGrp="1"/>
          </p:cNvSpPr>
          <p:nvPr/>
        </p:nvSpPr>
        <p:spPr>
          <a:xfrm>
            <a:off x="508000" y="1320800"/>
            <a:ext cx="6096000" cy="7366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0" name="state"/>
          <p:cNvSpPr>
            <a:spLocks noGrp="1"/>
          </p:cNvSpPr>
          <p:nvPr/>
        </p:nvSpPr>
        <p:spPr>
          <a:xfrm>
            <a:off x="711200" y="1397000"/>
            <a:ext cx="5715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后验参数：E′、CL、μ、σmin和各簇参数；后验裂缝长度仍由PKN重新计算。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1"/>
          <p:cNvSpPr>
            <a:spLocks noGrp="1"/>
          </p:cNvSpPr>
          <p:nvPr/>
        </p:nvSpPr>
        <p:spPr>
          <a:xfrm>
            <a:off x="508000" y="2209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在线闭环步骤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teps"/>
          <p:cNvSpPr>
            <a:spLocks noGrp="1"/>
          </p:cNvSpPr>
          <p:nvPr/>
        </p:nvSpPr>
        <p:spPr>
          <a:xfrm>
            <a:off x="508000" y="2540000"/>
            <a:ext cx="6096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预测：用上一时刻后验参数运行PKN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观测：接收光纤液砂份额和井底压力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更新：EnKF修正PKN参数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再正演：用后验参数计算裂缝状态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传递：后验参数进入下一时间步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warn-bg"/>
          <p:cNvSpPr>
            <a:spLocks noGrp="1"/>
          </p:cNvSpPr>
          <p:nvPr/>
        </p:nvSpPr>
        <p:spPr>
          <a:xfrm>
            <a:off x="508000" y="5181600"/>
            <a:ext cx="6096000" cy="7874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14" name="warn"/>
          <p:cNvSpPr>
            <a:spLocks noGrp="1"/>
          </p:cNvSpPr>
          <p:nvPr/>
        </p:nvSpPr>
        <p:spPr>
          <a:xfrm>
            <a:off x="711200" y="5283200"/>
            <a:ext cx="5715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9C6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不能把“光纤等效缝长”直接当最终缝长；否则模型失去物理参数反演意义。</a:t>
            </a:r>
            <a:endParaRPr sz="1200" b="1">
              <a:solidFill>
                <a:srgbClr val="9C6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nkf-border"/>
          <p:cNvSpPr>
            <a:spLocks noGrp="1"/>
          </p:cNvSpPr>
          <p:nvPr/>
        </p:nvSpPr>
        <p:spPr>
          <a:xfrm>
            <a:off x="6858000" y="1498600"/>
            <a:ext cx="4826000" cy="23622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enkfcap"/>
          <p:cNvSpPr>
            <a:spLocks noGrp="1"/>
          </p:cNvSpPr>
          <p:nvPr/>
        </p:nvSpPr>
        <p:spPr>
          <a:xfrm>
            <a:off x="6762750" y="1428750"/>
            <a:ext cx="4857750" cy="3619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每个在线时间步执行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上一时刻后验参数进入PKN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PKN输出裂缝状态和预测观测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接收液量份额、砂量份额、井底压力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计算残差与Kalman Gain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更新E′、CL、μ、σmin及分簇参数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用后验参数重新运行PKN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后验参数传递到下一时刻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缝长始终是PKN计算结果。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loop-bg"/>
          <p:cNvSpPr>
            <a:spLocks noGrp="1"/>
          </p:cNvSpPr>
          <p:nvPr/>
        </p:nvSpPr>
        <p:spPr>
          <a:xfrm>
            <a:off x="6858000" y="4267200"/>
            <a:ext cx="4826000" cy="170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loop"/>
          <p:cNvSpPr>
            <a:spLocks noGrp="1"/>
          </p:cNvSpPr>
          <p:nvPr/>
        </p:nvSpPr>
        <p:spPr>
          <a:xfrm>
            <a:off x="7061200" y="4394200"/>
            <a:ext cx="44450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60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PKN先验 → 观测残差 → EnKF参数后验 → PKN后验 → 下一步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37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9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40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成果2-4：采用前42步校准、后18步留出的严格时序验证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验证设计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总计60个连续时间步：前70%用于参数校准，后30%完全留出；留出阶段不再使用未来数据回调参数。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验证对象均为现场可直接对照的观测量。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2844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评价指标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-bg"/>
          <p:cNvSpPr>
            <a:spLocks noGrp="1"/>
          </p:cNvSpPr>
          <p:nvPr/>
        </p:nvSpPr>
        <p:spPr>
          <a:xfrm>
            <a:off x="508000" y="31750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3" name="s1-t"/>
          <p:cNvSpPr>
            <a:spLocks noGrp="1"/>
          </p:cNvSpPr>
          <p:nvPr/>
        </p:nvSpPr>
        <p:spPr>
          <a:xfrm>
            <a:off x="558800" y="32258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42步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校准区间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2-bg"/>
          <p:cNvSpPr>
            <a:spLocks noGrp="1"/>
          </p:cNvSpPr>
          <p:nvPr/>
        </p:nvSpPr>
        <p:spPr>
          <a:xfrm>
            <a:off x="2540000" y="31750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5" name="s2-t"/>
          <p:cNvSpPr>
            <a:spLocks noGrp="1"/>
          </p:cNvSpPr>
          <p:nvPr/>
        </p:nvSpPr>
        <p:spPr>
          <a:xfrm>
            <a:off x="2590800" y="32258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18步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留出验证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3-bg"/>
          <p:cNvSpPr>
            <a:spLocks noGrp="1"/>
          </p:cNvSpPr>
          <p:nvPr/>
        </p:nvSpPr>
        <p:spPr>
          <a:xfrm>
            <a:off x="4572000" y="31750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7" name="s3-t"/>
          <p:cNvSpPr>
            <a:spLocks noGrp="1"/>
          </p:cNvSpPr>
          <p:nvPr/>
        </p:nvSpPr>
        <p:spPr>
          <a:xfrm>
            <a:off x="4622800" y="32258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TVD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液砂份额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4-bg"/>
          <p:cNvSpPr>
            <a:spLocks noGrp="1"/>
          </p:cNvSpPr>
          <p:nvPr/>
        </p:nvSpPr>
        <p:spPr>
          <a:xfrm>
            <a:off x="508000" y="42418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s4-t"/>
          <p:cNvSpPr>
            <a:spLocks noGrp="1"/>
          </p:cNvSpPr>
          <p:nvPr/>
        </p:nvSpPr>
        <p:spPr>
          <a:xfrm>
            <a:off x="558800" y="42926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相对误差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井底压力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5-bg"/>
          <p:cNvSpPr>
            <a:spLocks noGrp="1"/>
          </p:cNvSpPr>
          <p:nvPr/>
        </p:nvSpPr>
        <p:spPr>
          <a:xfrm>
            <a:off x="2540000" y="42418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1" name="s5-t"/>
          <p:cNvSpPr>
            <a:spLocks noGrp="1"/>
          </p:cNvSpPr>
          <p:nvPr/>
        </p:nvSpPr>
        <p:spPr>
          <a:xfrm>
            <a:off x="2590800" y="42926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单步P95</a:t>
            </a:r>
            <a:endParaRPr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计算时效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6-bg"/>
          <p:cNvSpPr>
            <a:spLocks noGrp="1"/>
          </p:cNvSpPr>
          <p:nvPr/>
        </p:nvSpPr>
        <p:spPr>
          <a:xfrm>
            <a:off x="4572000" y="42418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3" name="s6-t"/>
          <p:cNvSpPr>
            <a:spLocks noGrp="1"/>
          </p:cNvSpPr>
          <p:nvPr/>
        </p:nvSpPr>
        <p:spPr>
          <a:xfrm>
            <a:off x="4622800" y="42926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15%</a:t>
            </a:r>
            <a:endParaRPr sz="1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合同阈值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warn-bg"/>
          <p:cNvSpPr>
            <a:spLocks noGrp="1"/>
          </p:cNvSpPr>
          <p:nvPr/>
        </p:nvSpPr>
        <p:spPr>
          <a:xfrm>
            <a:off x="508000" y="5334000"/>
            <a:ext cx="5969000" cy="6350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25" name="warn"/>
          <p:cNvSpPr>
            <a:spLocks noGrp="1"/>
          </p:cNvSpPr>
          <p:nvPr/>
        </p:nvSpPr>
        <p:spPr>
          <a:xfrm>
            <a:off x="711200" y="5410200"/>
            <a:ext cx="5588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50" b="1">
                <a:solidFill>
                  <a:srgbClr val="9C6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时间顺序验证避免随机拆分造成未来信息泄漏。</a:t>
            </a:r>
            <a:endParaRPr sz="1150" b="1">
              <a:solidFill>
                <a:srgbClr val="9C6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harttitle"/>
          <p:cNvSpPr>
            <a:spLocks noGrp="1"/>
          </p:cNvSpPr>
          <p:nvPr/>
        </p:nvSpPr>
        <p:spPr>
          <a:xfrm>
            <a:off x="6858000" y="1320800"/>
            <a:ext cx="4902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校准区间与留出验证区间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1" name="chart"/>
          <p:cNvPicPr>
            <a:picLocks noChangeAspect="1"/>
          </p:cNvPicPr>
          <p:nvPr/>
        </p:nvPicPr>
        <p:blipFill>
          <a:blip r:embed="rId5"/>
          <a:srcRect l="-3141" r="-3141"/>
          <a:stretch>
            <a:fillRect/>
          </a:stretch>
        </p:blipFill>
        <p:spPr>
          <a:xfrm>
            <a:off x="7023100" y="1574800"/>
            <a:ext cx="4572000" cy="2133600"/>
          </a:xfrm>
          <a:prstGeom prst="rect">
            <a:avLst/>
          </a:prstGeom>
          <a:ln>
            <a:noFill/>
          </a:ln>
        </p:spPr>
      </p:pic>
      <p:sp>
        <p:nvSpPr>
          <p:cNvPr id="29" name="curve-border"/>
          <p:cNvSpPr>
            <a:spLocks noGrp="1"/>
          </p:cNvSpPr>
          <p:nvPr/>
        </p:nvSpPr>
        <p:spPr>
          <a:xfrm>
            <a:off x="6858000" y="3810000"/>
            <a:ext cx="4902200" cy="19050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30" name="curvecap"/>
          <p:cNvSpPr>
            <a:spLocks noGrp="1"/>
          </p:cNvSpPr>
          <p:nvPr/>
        </p:nvSpPr>
        <p:spPr>
          <a:xfrm>
            <a:off x="6858000" y="5765800"/>
            <a:ext cx="4902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EnKF参数在校准和留出阶段的变化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37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9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40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成果2-4：留出阶段三类直接观测误差均低于15%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验证结果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分簇液量采用总变差距离TVD；分簇砂量采用TVD；井底压力采用相对误差。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2844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平均误差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-bg"/>
          <p:cNvSpPr>
            <a:spLocks noGrp="1"/>
          </p:cNvSpPr>
          <p:nvPr/>
        </p:nvSpPr>
        <p:spPr>
          <a:xfrm>
            <a:off x="508000" y="31750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3" name="s1-t"/>
          <p:cNvSpPr>
            <a:spLocks noGrp="1"/>
          </p:cNvSpPr>
          <p:nvPr/>
        </p:nvSpPr>
        <p:spPr>
          <a:xfrm>
            <a:off x="558800" y="32258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6.19%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液量TVD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2-bg"/>
          <p:cNvSpPr>
            <a:spLocks noGrp="1"/>
          </p:cNvSpPr>
          <p:nvPr/>
        </p:nvSpPr>
        <p:spPr>
          <a:xfrm>
            <a:off x="2540000" y="31750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5" name="s2-t"/>
          <p:cNvSpPr>
            <a:spLocks noGrp="1"/>
          </p:cNvSpPr>
          <p:nvPr/>
        </p:nvSpPr>
        <p:spPr>
          <a:xfrm>
            <a:off x="2590800" y="32258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7.10%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砂量TVD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3-bg"/>
          <p:cNvSpPr>
            <a:spLocks noGrp="1"/>
          </p:cNvSpPr>
          <p:nvPr/>
        </p:nvSpPr>
        <p:spPr>
          <a:xfrm>
            <a:off x="4572000" y="31750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7" name="s3-t"/>
          <p:cNvSpPr>
            <a:spLocks noGrp="1"/>
          </p:cNvSpPr>
          <p:nvPr/>
        </p:nvSpPr>
        <p:spPr>
          <a:xfrm>
            <a:off x="4622800" y="32258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4.04%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井底压力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4-bg"/>
          <p:cNvSpPr>
            <a:spLocks noGrp="1"/>
          </p:cNvSpPr>
          <p:nvPr/>
        </p:nvSpPr>
        <p:spPr>
          <a:xfrm>
            <a:off x="508000" y="42418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s4-t"/>
          <p:cNvSpPr>
            <a:spLocks noGrp="1"/>
          </p:cNvSpPr>
          <p:nvPr/>
        </p:nvSpPr>
        <p:spPr>
          <a:xfrm>
            <a:off x="558800" y="42926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15%内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5-bg"/>
          <p:cNvSpPr>
            <a:spLocks noGrp="1"/>
          </p:cNvSpPr>
          <p:nvPr/>
        </p:nvSpPr>
        <p:spPr>
          <a:xfrm>
            <a:off x="2540000" y="42418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1" name="s5-t"/>
          <p:cNvSpPr>
            <a:spLocks noGrp="1"/>
          </p:cNvSpPr>
          <p:nvPr/>
        </p:nvSpPr>
        <p:spPr>
          <a:xfrm>
            <a:off x="2590800" y="42926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18步</a:t>
            </a:r>
            <a:endParaRPr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独立验证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6-bg"/>
          <p:cNvSpPr>
            <a:spLocks noGrp="1"/>
          </p:cNvSpPr>
          <p:nvPr/>
        </p:nvSpPr>
        <p:spPr>
          <a:xfrm>
            <a:off x="4572000" y="42418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3" name="s6-t"/>
          <p:cNvSpPr>
            <a:spLocks noGrp="1"/>
          </p:cNvSpPr>
          <p:nvPr/>
        </p:nvSpPr>
        <p:spPr>
          <a:xfrm>
            <a:off x="4622800" y="42926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3类</a:t>
            </a:r>
            <a:endParaRPr sz="1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观测量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warn-bg"/>
          <p:cNvSpPr>
            <a:spLocks noGrp="1"/>
          </p:cNvSpPr>
          <p:nvPr/>
        </p:nvSpPr>
        <p:spPr>
          <a:xfrm>
            <a:off x="508000" y="5334000"/>
            <a:ext cx="5969000" cy="6350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25" name="warn"/>
          <p:cNvSpPr>
            <a:spLocks noGrp="1"/>
          </p:cNvSpPr>
          <p:nvPr/>
        </p:nvSpPr>
        <p:spPr>
          <a:xfrm>
            <a:off x="711200" y="5410200"/>
            <a:ext cx="5588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50" b="1">
                <a:solidFill>
                  <a:srgbClr val="9C6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结果证明观测空间同化闭环有效。</a:t>
            </a:r>
            <a:endParaRPr sz="1150" b="1">
              <a:solidFill>
                <a:srgbClr val="9C6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harttitle"/>
          <p:cNvSpPr>
            <a:spLocks noGrp="1"/>
          </p:cNvSpPr>
          <p:nvPr/>
        </p:nvSpPr>
        <p:spPr>
          <a:xfrm>
            <a:off x="6858000" y="1320800"/>
            <a:ext cx="4902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三类误差与15%阈值对比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curve-border"/>
          <p:cNvSpPr>
            <a:spLocks noGrp="1"/>
          </p:cNvSpPr>
          <p:nvPr/>
        </p:nvSpPr>
        <p:spPr>
          <a:xfrm>
            <a:off x="6858000" y="3810000"/>
            <a:ext cx="4902200" cy="19050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30" name="curvecap"/>
          <p:cNvSpPr>
            <a:spLocks noGrp="1"/>
          </p:cNvSpPr>
          <p:nvPr/>
        </p:nvSpPr>
        <p:spPr>
          <a:xfrm>
            <a:off x="6858000" y="5765800"/>
            <a:ext cx="4902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留出区间预测与实测对比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1818254"/>
            <a:ext cx="5381625" cy="3459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37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9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40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成果2-4：全流程单步P95为57.30ms，满足15秒要求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计算性能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计时包含数据控制量生成、集合PKN正演、观测算子、EnKF更新和后验正演；不包含HTML/PyVista渲染时间。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2844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性能与边界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-bg"/>
          <p:cNvSpPr>
            <a:spLocks noGrp="1"/>
          </p:cNvSpPr>
          <p:nvPr/>
        </p:nvSpPr>
        <p:spPr>
          <a:xfrm>
            <a:off x="508000" y="31750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3" name="s1-t"/>
          <p:cNvSpPr>
            <a:spLocks noGrp="1"/>
          </p:cNvSpPr>
          <p:nvPr/>
        </p:nvSpPr>
        <p:spPr>
          <a:xfrm>
            <a:off x="558800" y="32258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57.30ms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单步P95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2-bg"/>
          <p:cNvSpPr>
            <a:spLocks noGrp="1"/>
          </p:cNvSpPr>
          <p:nvPr/>
        </p:nvSpPr>
        <p:spPr>
          <a:xfrm>
            <a:off x="2540000" y="31750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5" name="s2-t"/>
          <p:cNvSpPr>
            <a:spLocks noGrp="1"/>
          </p:cNvSpPr>
          <p:nvPr/>
        </p:nvSpPr>
        <p:spPr>
          <a:xfrm>
            <a:off x="2590800" y="32258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&lt;15s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时效达标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3-bg"/>
          <p:cNvSpPr>
            <a:spLocks noGrp="1"/>
          </p:cNvSpPr>
          <p:nvPr/>
        </p:nvSpPr>
        <p:spPr>
          <a:xfrm>
            <a:off x="4572000" y="31750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7" name="s3-t"/>
          <p:cNvSpPr>
            <a:spLocks noGrp="1"/>
          </p:cNvSpPr>
          <p:nvPr/>
        </p:nvSpPr>
        <p:spPr>
          <a:xfrm>
            <a:off x="4622800" y="32258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时效达标率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4-bg"/>
          <p:cNvSpPr>
            <a:spLocks noGrp="1"/>
          </p:cNvSpPr>
          <p:nvPr/>
        </p:nvSpPr>
        <p:spPr>
          <a:xfrm>
            <a:off x="508000" y="42418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s4-t"/>
          <p:cNvSpPr>
            <a:spLocks noGrp="1"/>
          </p:cNvSpPr>
          <p:nvPr/>
        </p:nvSpPr>
        <p:spPr>
          <a:xfrm>
            <a:off x="558800" y="42926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2.38e-16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流量误差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5-bg"/>
          <p:cNvSpPr>
            <a:spLocks noGrp="1"/>
          </p:cNvSpPr>
          <p:nvPr/>
        </p:nvSpPr>
        <p:spPr>
          <a:xfrm>
            <a:off x="2540000" y="42418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1" name="s5-t"/>
          <p:cNvSpPr>
            <a:spLocks noGrp="1"/>
          </p:cNvSpPr>
          <p:nvPr/>
        </p:nvSpPr>
        <p:spPr>
          <a:xfrm>
            <a:off x="2590800" y="42926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PKN</a:t>
            </a:r>
            <a:endParaRPr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在线主模型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6-bg"/>
          <p:cNvSpPr>
            <a:spLocks noGrp="1"/>
          </p:cNvSpPr>
          <p:nvPr/>
        </p:nvSpPr>
        <p:spPr>
          <a:xfrm>
            <a:off x="4572000" y="4241800"/>
            <a:ext cx="1905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3" name="s6-t"/>
          <p:cNvSpPr>
            <a:spLocks noGrp="1"/>
          </p:cNvSpPr>
          <p:nvPr/>
        </p:nvSpPr>
        <p:spPr>
          <a:xfrm>
            <a:off x="4622800" y="4292600"/>
            <a:ext cx="1803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留出</a:t>
            </a:r>
            <a:endParaRPr sz="1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观测验证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warn-bg"/>
          <p:cNvSpPr>
            <a:spLocks noGrp="1"/>
          </p:cNvSpPr>
          <p:nvPr/>
        </p:nvSpPr>
        <p:spPr>
          <a:xfrm>
            <a:off x="508000" y="5334000"/>
            <a:ext cx="5969000" cy="6350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25" name="warn"/>
          <p:cNvSpPr>
            <a:spLocks noGrp="1"/>
          </p:cNvSpPr>
          <p:nvPr/>
        </p:nvSpPr>
        <p:spPr>
          <a:xfrm>
            <a:off x="711200" y="5410200"/>
            <a:ext cx="5588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50" b="1">
                <a:solidFill>
                  <a:srgbClr val="9C6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尚无独立真实裂缝缝长标签，不能将观测空间误差表述为真实几何误差。</a:t>
            </a:r>
            <a:endParaRPr sz="1150" b="1">
              <a:solidFill>
                <a:srgbClr val="9C6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harttitle"/>
          <p:cNvSpPr>
            <a:spLocks noGrp="1"/>
          </p:cNvSpPr>
          <p:nvPr/>
        </p:nvSpPr>
        <p:spPr>
          <a:xfrm>
            <a:off x="6858000" y="1320800"/>
            <a:ext cx="4902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单步耗时与15秒阈值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curve-border"/>
          <p:cNvSpPr>
            <a:spLocks noGrp="1"/>
          </p:cNvSpPr>
          <p:nvPr/>
        </p:nvSpPr>
        <p:spPr>
          <a:xfrm>
            <a:off x="6858000" y="3810000"/>
            <a:ext cx="4902200" cy="19050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30" name="curvecap"/>
          <p:cNvSpPr>
            <a:spLocks noGrp="1"/>
          </p:cNvSpPr>
          <p:nvPr/>
        </p:nvSpPr>
        <p:spPr>
          <a:xfrm>
            <a:off x="6858000" y="5765800"/>
            <a:ext cx="4902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PKN-EnKF全流程耗时统计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875" y="1601561"/>
            <a:ext cx="5191125" cy="35596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4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6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7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成果2-5：三类正演模型共用LengthForwardModel接口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统一接口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842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统一输入：时间、总排量、累计注入、岩石参数、流体参数和分簇参数。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统一输出：簇号、位置、半长、开度、面积和体积。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3200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模型定位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t"/>
          <p:cNvSpPr>
            <a:spLocks noGrp="1"/>
          </p:cNvSpPr>
          <p:nvPr/>
        </p:nvSpPr>
        <p:spPr>
          <a:xfrm>
            <a:off x="508000" y="3530600"/>
            <a:ext cx="5842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PKN：快速在线主模型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reduced BEM：表达簇间柔度/影响矩阵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数据代理：学习复杂模型的快速近似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win-border"/>
          <p:cNvSpPr>
            <a:spLocks noGrp="1"/>
          </p:cNvSpPr>
          <p:nvPr/>
        </p:nvSpPr>
        <p:spPr>
          <a:xfrm>
            <a:off x="6604000" y="1397000"/>
            <a:ext cx="5207000" cy="25527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twincap"/>
          <p:cNvSpPr>
            <a:spLocks noGrp="1"/>
          </p:cNvSpPr>
          <p:nvPr/>
        </p:nvSpPr>
        <p:spPr>
          <a:xfrm>
            <a:off x="6667500" y="1428750"/>
            <a:ext cx="5095875" cy="3333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统一正演接口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simulate_lengths(time, controls, rock, fluid, cluster_params)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统一返回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cluster_id / x_center_m / Q_cluster_m3s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half_length_m / max_aperture_mm / area_m² / volume_m³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PKN、reduced BEM和数据代理可直接替换，EnKF与可视化层不改。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cube-border"/>
          <p:cNvSpPr>
            <a:spLocks noGrp="1"/>
          </p:cNvSpPr>
          <p:nvPr/>
        </p:nvSpPr>
        <p:spPr>
          <a:xfrm>
            <a:off x="6604000" y="4343400"/>
            <a:ext cx="1676400" cy="16002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8" name="cubecap"/>
          <p:cNvSpPr>
            <a:spLocks noGrp="1"/>
          </p:cNvSpPr>
          <p:nvPr/>
        </p:nvSpPr>
        <p:spPr>
          <a:xfrm>
            <a:off x="8382000" y="4470400"/>
            <a:ext cx="33782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替换正演模型时，EnKF和可视化主流程保持不变。</a:t>
            </a:r>
            <a:endParaRPr sz="11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成果2-5：比较正演精度、计算耗时和闭环适用性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统一benchmark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842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三个模型使用相同真实第8段控制量、相同观测算子、相同EnKF参数和随机种子；分别统计单次正演P50/P95、闭环单步P95和15%达标率。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3200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阶段结论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t"/>
          <p:cNvSpPr>
            <a:spLocks noGrp="1"/>
          </p:cNvSpPr>
          <p:nvPr/>
        </p:nvSpPr>
        <p:spPr>
          <a:xfrm>
            <a:off x="508000" y="3530600"/>
            <a:ext cx="5842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PKN计算最快、物理解释清晰；reduced BEM用于验证复杂模型可替换性；数据代理适合高频近似，但精度依赖教师样本。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win-border"/>
          <p:cNvSpPr>
            <a:spLocks noGrp="1"/>
          </p:cNvSpPr>
          <p:nvPr/>
        </p:nvSpPr>
        <p:spPr>
          <a:xfrm>
            <a:off x="6604000" y="1397000"/>
            <a:ext cx="5207000" cy="25527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twincap"/>
          <p:cNvSpPr>
            <a:spLocks noGrp="1"/>
          </p:cNvSpPr>
          <p:nvPr/>
        </p:nvSpPr>
        <p:spPr>
          <a:xfrm>
            <a:off x="6604000" y="40005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PKN / reduced BEM / 数据代理精度—耗时折中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cube-border"/>
          <p:cNvSpPr>
            <a:spLocks noGrp="1"/>
          </p:cNvSpPr>
          <p:nvPr/>
        </p:nvSpPr>
        <p:spPr>
          <a:xfrm>
            <a:off x="6604000" y="4343400"/>
            <a:ext cx="1676400" cy="16002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8" name="cubecap"/>
          <p:cNvSpPr>
            <a:spLocks noGrp="1"/>
          </p:cNvSpPr>
          <p:nvPr/>
        </p:nvSpPr>
        <p:spPr>
          <a:xfrm>
            <a:off x="8382000" y="4470400"/>
            <a:ext cx="33782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当前reduced BEM为降阶验证版，不宣称等同生产级完整BEM。</a:t>
            </a:r>
            <a:endParaRPr sz="11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1611809"/>
            <a:ext cx="5286375" cy="36343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成果2-5：3D裂缝形态与2D缝长曲线连续联动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WebGL三维展示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842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显示真实井轨迹、簇位置、PKN先验状态和EnKF后验状态；支持鼠标旋转、缩放、时间步切换和连续播放。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3200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二维联动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t"/>
          <p:cNvSpPr>
            <a:spLocks noGrp="1"/>
          </p:cNvSpPr>
          <p:nvPr/>
        </p:nvSpPr>
        <p:spPr>
          <a:xfrm>
            <a:off x="508000" y="3530600"/>
            <a:ext cx="5842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2D区域只展示每簇缝长随时间变化，便于发现突变、倒退和簇间差异；hover显示簇级液砂贡献、观测因子和参数更新。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twin"/>
          <p:cNvPicPr>
            <a:picLocks noChangeAspect="1"/>
          </p:cNvPicPr>
          <p:nvPr/>
        </p:nvPicPr>
        <p:blipFill>
          <a:blip r:embed="rId5"/>
          <a:srcRect l="-88" r="-88"/>
          <a:stretch>
            <a:fillRect/>
          </a:stretch>
        </p:blipFill>
        <p:spPr>
          <a:xfrm>
            <a:off x="6604000" y="1397000"/>
            <a:ext cx="5207000" cy="2552700"/>
          </a:xfrm>
          <a:prstGeom prst="rect">
            <a:avLst/>
          </a:prstGeom>
          <a:ln>
            <a:noFill/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pic>
      <p:sp>
        <p:nvSpPr>
          <p:cNvPr id="14" name="twin-border"/>
          <p:cNvSpPr>
            <a:spLocks noGrp="1"/>
          </p:cNvSpPr>
          <p:nvPr/>
        </p:nvSpPr>
        <p:spPr>
          <a:xfrm>
            <a:off x="6604000" y="1397000"/>
            <a:ext cx="5207000" cy="25527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twincap"/>
          <p:cNvSpPr>
            <a:spLocks noGrp="1"/>
          </p:cNvSpPr>
          <p:nvPr/>
        </p:nvSpPr>
        <p:spPr>
          <a:xfrm>
            <a:off x="6604000" y="40005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多簇裂缝三维连续扩展展示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cube-border"/>
          <p:cNvSpPr>
            <a:spLocks noGrp="1"/>
          </p:cNvSpPr>
          <p:nvPr/>
        </p:nvSpPr>
        <p:spPr>
          <a:xfrm>
            <a:off x="6604000" y="4343400"/>
            <a:ext cx="1676400" cy="16002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8" name="cubecap"/>
          <p:cNvSpPr>
            <a:spLocks noGrp="1"/>
          </p:cNvSpPr>
          <p:nvPr/>
        </p:nvSpPr>
        <p:spPr>
          <a:xfrm>
            <a:off x="8382000" y="4470400"/>
            <a:ext cx="33782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3D用于形态理解，2D用于定量检查，两者使用同一时间步数据。</a:t>
            </a:r>
            <a:endParaRPr sz="11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6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8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9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成果3-1：状态覆盖历史300秒，动作面向未来60秒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io-bg"/>
          <p:cNvSpPr>
            <a:spLocks noGrp="1"/>
          </p:cNvSpPr>
          <p:nvPr/>
        </p:nvSpPr>
        <p:spPr>
          <a:xfrm>
            <a:off x="508000" y="1320800"/>
            <a:ext cx="5969000" cy="8382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0" name="io"/>
          <p:cNvSpPr>
            <a:spLocks noGrp="1"/>
          </p:cNvSpPr>
          <p:nvPr/>
        </p:nvSpPr>
        <p:spPr>
          <a:xfrm>
            <a:off x="711200" y="1397000"/>
            <a:ext cx="558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状态：过去300秒压力、排量、砂比的末值/均值/波动/斜率 + PKN-EnKF状态 + 异常概率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动作：未来60秒目标排量与目标砂比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1"/>
          <p:cNvSpPr>
            <a:spLocks noGrp="1"/>
          </p:cNvSpPr>
          <p:nvPr/>
        </p:nvSpPr>
        <p:spPr>
          <a:xfrm>
            <a:off x="508000" y="2311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决策时间尺度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hrl"/>
          <p:cNvSpPr>
            <a:spLocks noGrp="1"/>
          </p:cNvSpPr>
          <p:nvPr/>
        </p:nvSpPr>
        <p:spPr>
          <a:xfrm>
            <a:off x="508000" y="26416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每60秒产生一次建议；历史窗口提供当前趋势，候选动作送入数字孪生环境预测未来响应。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w-bg"/>
          <p:cNvSpPr>
            <a:spLocks noGrp="1"/>
          </p:cNvSpPr>
          <p:nvPr/>
        </p:nvSpPr>
        <p:spPr>
          <a:xfrm>
            <a:off x="508000" y="4267200"/>
            <a:ext cx="5969000" cy="170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4" name="rw"/>
          <p:cNvSpPr>
            <a:spLocks noGrp="1"/>
          </p:cNvSpPr>
          <p:nvPr/>
        </p:nvSpPr>
        <p:spPr>
          <a:xfrm>
            <a:off x="711200" y="4394200"/>
            <a:ext cx="55880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智能体不直接修改历史数据，而是比较不同候选排量/砂比对未来压力、裂缝和风险的影响。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hrlimg"/>
          <p:cNvPicPr>
            <a:picLocks noChangeAspect="1"/>
          </p:cNvPicPr>
          <p:nvPr/>
        </p:nvPicPr>
        <p:blipFill>
          <a:blip r:embed="rId5"/>
          <a:srcRect t="-98" b="-98"/>
          <a:stretch>
            <a:fillRect/>
          </a:stretch>
        </p:blipFill>
        <p:spPr>
          <a:xfrm>
            <a:off x="6731000" y="1498600"/>
            <a:ext cx="5029200" cy="2628900"/>
          </a:xfrm>
          <a:prstGeom prst="rect">
            <a:avLst/>
          </a:prstGeom>
          <a:ln>
            <a:noFill/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pic>
      <p:sp>
        <p:nvSpPr>
          <p:cNvPr id="16" name="hrlimg-border"/>
          <p:cNvSpPr>
            <a:spLocks noGrp="1"/>
          </p:cNvSpPr>
          <p:nvPr/>
        </p:nvSpPr>
        <p:spPr>
          <a:xfrm>
            <a:off x="6731000" y="1498600"/>
            <a:ext cx="5029200" cy="26289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hrlcap"/>
          <p:cNvSpPr>
            <a:spLocks noGrp="1"/>
          </p:cNvSpPr>
          <p:nvPr/>
        </p:nvSpPr>
        <p:spPr>
          <a:xfrm>
            <a:off x="6731000" y="41783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300秒状态 → 60秒动作 → 数字孪生响应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note-bg"/>
          <p:cNvSpPr>
            <a:spLocks noGrp="1"/>
          </p:cNvSpPr>
          <p:nvPr/>
        </p:nvSpPr>
        <p:spPr>
          <a:xfrm>
            <a:off x="6731000" y="4521200"/>
            <a:ext cx="5029200" cy="144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note"/>
          <p:cNvSpPr>
            <a:spLocks noGrp="1"/>
          </p:cNvSpPr>
          <p:nvPr/>
        </p:nvSpPr>
        <p:spPr>
          <a:xfrm>
            <a:off x="6934200" y="4648200"/>
            <a:ext cx="4648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当前输出为建议模式，控制动作需人工确认。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成果3-1：高层规则约束模式，低层策略优化连续动作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io-bg"/>
          <p:cNvSpPr>
            <a:spLocks noGrp="1"/>
          </p:cNvSpPr>
          <p:nvPr/>
        </p:nvSpPr>
        <p:spPr>
          <a:xfrm>
            <a:off x="508000" y="1320800"/>
            <a:ext cx="5969000" cy="8382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0" name="io"/>
          <p:cNvSpPr>
            <a:spLocks noGrp="1"/>
          </p:cNvSpPr>
          <p:nvPr/>
        </p:nvSpPr>
        <p:spPr>
          <a:xfrm>
            <a:off x="711200" y="1397000"/>
            <a:ext cx="558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高层选项：生长 / 保持 / 转向 / 安全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低层动作：连续排量与砂比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1"/>
          <p:cNvSpPr>
            <a:spLocks noGrp="1"/>
          </p:cNvSpPr>
          <p:nvPr/>
        </p:nvSpPr>
        <p:spPr>
          <a:xfrm>
            <a:off x="508000" y="2311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分层控制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hrl"/>
          <p:cNvSpPr>
            <a:spLocks noGrp="1"/>
          </p:cNvSpPr>
          <p:nvPr/>
        </p:nvSpPr>
        <p:spPr>
          <a:xfrm>
            <a:off x="508000" y="26416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高层依据压力上限、砂堵概率、EnKF残差和专家规则选择模式；低层PPO/SAC在模式允许范围内优化连续动作。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w-bg"/>
          <p:cNvSpPr>
            <a:spLocks noGrp="1"/>
          </p:cNvSpPr>
          <p:nvPr/>
        </p:nvSpPr>
        <p:spPr>
          <a:xfrm>
            <a:off x="508000" y="4267200"/>
            <a:ext cx="5969000" cy="170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4" name="rw"/>
          <p:cNvSpPr>
            <a:spLocks noGrp="1"/>
          </p:cNvSpPr>
          <p:nvPr/>
        </p:nvSpPr>
        <p:spPr>
          <a:xfrm>
            <a:off x="711200" y="4394200"/>
            <a:ext cx="55880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高风险或高不确定时，高层切换保持/安全模式，限制低层继续激进加砂。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hrlimg-border"/>
          <p:cNvSpPr>
            <a:spLocks noGrp="1"/>
          </p:cNvSpPr>
          <p:nvPr/>
        </p:nvSpPr>
        <p:spPr>
          <a:xfrm>
            <a:off x="6731000" y="1498600"/>
            <a:ext cx="5029200" cy="26289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hrlcap"/>
          <p:cNvSpPr>
            <a:spLocks noGrp="1"/>
          </p:cNvSpPr>
          <p:nvPr/>
        </p:nvSpPr>
        <p:spPr>
          <a:xfrm>
            <a:off x="6762750" y="1476375"/>
            <a:ext cx="4857750" cy="3333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高层离散模式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生长 / 保持 / 转向 / 安全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高层输入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压力边界、砂堵概率、EnKF残差、专家规则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低层连续动作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未来60秒目标排量、目标砂比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高风险或高不确定时，高层强制切换保持/安全模式，限制低层激进行为。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note-bg"/>
          <p:cNvSpPr>
            <a:spLocks noGrp="1"/>
          </p:cNvSpPr>
          <p:nvPr/>
        </p:nvSpPr>
        <p:spPr>
          <a:xfrm>
            <a:off x="6731000" y="4521200"/>
            <a:ext cx="5029200" cy="144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note"/>
          <p:cNvSpPr>
            <a:spLocks noGrp="1"/>
          </p:cNvSpPr>
          <p:nvPr/>
        </p:nvSpPr>
        <p:spPr>
          <a:xfrm>
            <a:off x="6934200" y="4648200"/>
            <a:ext cx="4648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该轻量HRL原型以规则嵌入保证安全边界，以强化学习搜索局部最优。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成果3-1：安全投影与综合奖励共同约束动作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io-bg"/>
          <p:cNvSpPr>
            <a:spLocks noGrp="1"/>
          </p:cNvSpPr>
          <p:nvPr/>
        </p:nvSpPr>
        <p:spPr>
          <a:xfrm>
            <a:off x="508000" y="1320800"/>
            <a:ext cx="5969000" cy="8382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0" name="io"/>
          <p:cNvSpPr>
            <a:spLocks noGrp="1"/>
          </p:cNvSpPr>
          <p:nvPr/>
        </p:nvSpPr>
        <p:spPr>
          <a:xfrm>
            <a:off x="711200" y="1397000"/>
            <a:ext cx="558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泵序边界：最大排量、最大砂比、单步变化量、单次提砂幅度和停泵限制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1"/>
          <p:cNvSpPr>
            <a:spLocks noGrp="1"/>
          </p:cNvSpPr>
          <p:nvPr/>
        </p:nvSpPr>
        <p:spPr>
          <a:xfrm>
            <a:off x="508000" y="2311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奖励函数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hrl"/>
          <p:cNvSpPr>
            <a:spLocks noGrp="1"/>
          </p:cNvSpPr>
          <p:nvPr/>
        </p:nvSpPr>
        <p:spPr>
          <a:xfrm>
            <a:off x="508000" y="26416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改造效果：奖励裂缝扩展与分簇均衡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压力安全：惩罚井底/净压力越界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异常风险：惩罚异常和砂堵概率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施工成本：惩罚液量、砂量和剧烈动作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5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不确定性：惩罚OOD和EnKF残差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w-bg"/>
          <p:cNvSpPr>
            <a:spLocks noGrp="1"/>
          </p:cNvSpPr>
          <p:nvPr/>
        </p:nvSpPr>
        <p:spPr>
          <a:xfrm>
            <a:off x="508000" y="4267200"/>
            <a:ext cx="5969000" cy="170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4" name="rw"/>
          <p:cNvSpPr>
            <a:spLocks noGrp="1"/>
          </p:cNvSpPr>
          <p:nvPr/>
        </p:nvSpPr>
        <p:spPr>
          <a:xfrm>
            <a:off x="711200" y="4394200"/>
            <a:ext cx="55880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最终动作先经过泵序与安全边界投影，再进入数字孪生计算奖励。</a:t>
            </a:r>
            <a:endParaRPr sz="12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hrlimg-border"/>
          <p:cNvSpPr>
            <a:spLocks noGrp="1"/>
          </p:cNvSpPr>
          <p:nvPr/>
        </p:nvSpPr>
        <p:spPr>
          <a:xfrm>
            <a:off x="6731000" y="1498600"/>
            <a:ext cx="5029200" cy="26289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hrlcap"/>
          <p:cNvSpPr>
            <a:spLocks noGrp="1"/>
          </p:cNvSpPr>
          <p:nvPr/>
        </p:nvSpPr>
        <p:spPr>
          <a:xfrm>
            <a:off x="6762750" y="1476375"/>
            <a:ext cx="4857750" cy="342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综合奖励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= w₁R_effect − w₂P_pressure − w₃P_abnormal − w₄C_operation − w₅U_model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改造效果：裂缝扩展、分簇均衡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压力安全：井底/净压力越界惩罚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异常风险：异常概率、砂堵概率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施工成本：液量、砂量和动作波动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模型不确定：OOD、EnKF残差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策略输出还需经过泵序和安全边界投影。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note-bg"/>
          <p:cNvSpPr>
            <a:spLocks noGrp="1"/>
          </p:cNvSpPr>
          <p:nvPr/>
        </p:nvSpPr>
        <p:spPr>
          <a:xfrm>
            <a:off x="6731000" y="4521200"/>
            <a:ext cx="5029200" cy="144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note"/>
          <p:cNvSpPr>
            <a:spLocks noGrp="1"/>
          </p:cNvSpPr>
          <p:nvPr/>
        </p:nvSpPr>
        <p:spPr>
          <a:xfrm>
            <a:off x="6934200" y="4648200"/>
            <a:ext cx="4648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奖励用于训练策略，不代表单一工程目标；权重需由甲方专家继续标定。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6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8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9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成果3-2：真实秒点构造“历史状态—候选动作—未来响应”样本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滑动窗口样本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输入窗口：历史300秒压力、排量、砂比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动作窗口：未来60秒平均排量、平均砂比及动作增量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监督目标：未来均压、最大压力、异常标签和砂堵标签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3048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特征工程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ix"/>
          <p:cNvSpPr>
            <a:spLocks noGrp="1"/>
          </p:cNvSpPr>
          <p:nvPr/>
        </p:nvSpPr>
        <p:spPr>
          <a:xfrm>
            <a:off x="508000" y="33782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末值、均值、标准差、最小/最大值、线性斜率、动作差值、阶段位置和历史工况统计。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s-bg"/>
          <p:cNvSpPr>
            <a:spLocks noGrp="1"/>
          </p:cNvSpPr>
          <p:nvPr/>
        </p:nvSpPr>
        <p:spPr>
          <a:xfrm>
            <a:off x="508000" y="4978400"/>
            <a:ext cx="5969000" cy="9906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14" name="res"/>
          <p:cNvSpPr>
            <a:spLocks noGrp="1"/>
          </p:cNvSpPr>
          <p:nvPr/>
        </p:nvSpPr>
        <p:spPr>
          <a:xfrm>
            <a:off x="711200" y="5080000"/>
            <a:ext cx="5588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17个段形成8581个训练样本和1655个测试样本。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proxy"/>
          <p:cNvPicPr>
            <a:picLocks noChangeAspect="1"/>
          </p:cNvPicPr>
          <p:nvPr/>
        </p:nvPicPr>
        <p:blipFill>
          <a:blip r:embed="rId5"/>
          <a:srcRect t="-82" b="-82"/>
          <a:stretch>
            <a:fillRect/>
          </a:stretch>
        </p:blipFill>
        <p:spPr>
          <a:xfrm>
            <a:off x="6731000" y="1498600"/>
            <a:ext cx="5029200" cy="2984500"/>
          </a:xfrm>
          <a:prstGeom prst="rect">
            <a:avLst/>
          </a:prstGeom>
          <a:ln>
            <a:noFill/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pic>
      <p:sp>
        <p:nvSpPr>
          <p:cNvPr id="16" name="proxy-border"/>
          <p:cNvSpPr>
            <a:spLocks noGrp="1"/>
          </p:cNvSpPr>
          <p:nvPr/>
        </p:nvSpPr>
        <p:spPr>
          <a:xfrm>
            <a:off x="6731000" y="1498600"/>
            <a:ext cx="5029200" cy="29845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proxycap"/>
          <p:cNvSpPr>
            <a:spLocks noGrp="1"/>
          </p:cNvSpPr>
          <p:nvPr/>
        </p:nvSpPr>
        <p:spPr>
          <a:xfrm>
            <a:off x="6731000" y="45339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真实秒点的状态—动作—响应样本构造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nv-bg"/>
          <p:cNvSpPr>
            <a:spLocks noGrp="1"/>
          </p:cNvSpPr>
          <p:nvPr/>
        </p:nvSpPr>
        <p:spPr>
          <a:xfrm>
            <a:off x="6731000" y="4902200"/>
            <a:ext cx="5029200" cy="10668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9" name="env"/>
          <p:cNvSpPr>
            <a:spLocks noGrp="1"/>
          </p:cNvSpPr>
          <p:nvPr/>
        </p:nvSpPr>
        <p:spPr>
          <a:xfrm>
            <a:off x="6934200" y="5003800"/>
            <a:ext cx="46482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同一段内连续开窗，禁止跨段拼接。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成果3-2：学习代理与PKN-EnKF共同构成动作响应环境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混合响应模型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学习代理预测施工压力、异常概率、砂堵概率和动作OOD；PKN-EnKF计算裂缝半长、缝宽、净压力和物理参数更新。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3048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环境step流程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ix"/>
          <p:cNvSpPr>
            <a:spLocks noGrp="1"/>
          </p:cNvSpPr>
          <p:nvPr/>
        </p:nvSpPr>
        <p:spPr>
          <a:xfrm>
            <a:off x="508000" y="33782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候选动作 → 学习代理响应 → PKN正演 → EnKF参数更新 → 后验裂缝状态 → 奖励与安全判定。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s-bg"/>
          <p:cNvSpPr>
            <a:spLocks noGrp="1"/>
          </p:cNvSpPr>
          <p:nvPr/>
        </p:nvSpPr>
        <p:spPr>
          <a:xfrm>
            <a:off x="508000" y="4978400"/>
            <a:ext cx="5969000" cy="9906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14" name="res"/>
          <p:cNvSpPr>
            <a:spLocks noGrp="1"/>
          </p:cNvSpPr>
          <p:nvPr/>
        </p:nvSpPr>
        <p:spPr>
          <a:xfrm>
            <a:off x="711200" y="5080000"/>
            <a:ext cx="5588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相较纯经验响应公式，真实秒点代理可学习不同段中排量/砂比变化与压力响应的统计关系。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roxy-border"/>
          <p:cNvSpPr>
            <a:spLocks noGrp="1"/>
          </p:cNvSpPr>
          <p:nvPr/>
        </p:nvSpPr>
        <p:spPr>
          <a:xfrm>
            <a:off x="6731000" y="1498600"/>
            <a:ext cx="5029200" cy="29845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proxycap"/>
          <p:cNvSpPr>
            <a:spLocks noGrp="1"/>
          </p:cNvSpPr>
          <p:nvPr/>
        </p:nvSpPr>
        <p:spPr>
          <a:xfrm>
            <a:off x="6762750" y="1476375"/>
            <a:ext cx="4857750" cy="342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混合环境的一个step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候选动作 a_t=(Q_target, sand_ratio_target)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代理模型预测未来60秒压力与异常概率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PKN计算裂缝扩展和净压力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EnKF依据观测更新物理参数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合并改造效果、压力、风险、成本和不确定性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返回下一状态 s_(t+1)、奖励R_t和安全标志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nv-bg"/>
          <p:cNvSpPr>
            <a:spLocks noGrp="1"/>
          </p:cNvSpPr>
          <p:nvPr/>
        </p:nvSpPr>
        <p:spPr>
          <a:xfrm>
            <a:off x="6731000" y="4902200"/>
            <a:ext cx="5029200" cy="10668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9" name="env"/>
          <p:cNvSpPr>
            <a:spLocks noGrp="1"/>
          </p:cNvSpPr>
          <p:nvPr/>
        </p:nvSpPr>
        <p:spPr>
          <a:xfrm>
            <a:off x="6934200" y="5003800"/>
            <a:ext cx="46482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数据模型负责可学习响应，物理模型负责守恒和可解释状态。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成果3-2：压力响应已形成预测能力，异常风险仍需增强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代理模型阶段结果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未来60秒平均压力：RMSE约4.17 MPa，R²约0.673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未来最大压力：RMSE约5.25 MPa，R²约0.496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3048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风险模型结果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ix"/>
          <p:cNvSpPr>
            <a:spLocks noGrp="1"/>
          </p:cNvSpPr>
          <p:nvPr/>
        </p:nvSpPr>
        <p:spPr>
          <a:xfrm>
            <a:off x="508000" y="33782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异常AUC约0.577；砂堵AUC约0.382。说明现有段数可支撑压力响应学习，但不足以稳定学习罕见异常。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s-bg"/>
          <p:cNvSpPr>
            <a:spLocks noGrp="1"/>
          </p:cNvSpPr>
          <p:nvPr/>
        </p:nvSpPr>
        <p:spPr>
          <a:xfrm>
            <a:off x="508000" y="4978400"/>
            <a:ext cx="5969000" cy="9906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14" name="res"/>
          <p:cNvSpPr>
            <a:spLocks noGrp="1"/>
          </p:cNvSpPr>
          <p:nvPr/>
        </p:nvSpPr>
        <p:spPr>
          <a:xfrm>
            <a:off x="711200" y="5080000"/>
            <a:ext cx="5588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当前在异常概率上保留专家规则和第一部分工况模型融合，不把弱代理概率作为唯一决策依据。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roxy-border"/>
          <p:cNvSpPr>
            <a:spLocks noGrp="1"/>
          </p:cNvSpPr>
          <p:nvPr/>
        </p:nvSpPr>
        <p:spPr>
          <a:xfrm>
            <a:off x="6731000" y="1498600"/>
            <a:ext cx="5029200" cy="29845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proxycap"/>
          <p:cNvSpPr>
            <a:spLocks noGrp="1"/>
          </p:cNvSpPr>
          <p:nvPr/>
        </p:nvSpPr>
        <p:spPr>
          <a:xfrm>
            <a:off x="6762750" y="1476375"/>
            <a:ext cx="4857750" cy="3333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真实秒点代理测试结果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未来60秒平均压力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RMSE≈4.17 MPa，R²≈0.673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未来60秒最大压力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RMSE≈5.25 MPa，R²≈0.496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异常AUC≈0.577；砂堵AUC≈0.382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结论：压力响应可用于仿真，罕见异常概率仍需专家规则和第一部分工况模型共同约束。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nv-bg"/>
          <p:cNvSpPr>
            <a:spLocks noGrp="1"/>
          </p:cNvSpPr>
          <p:nvPr/>
        </p:nvSpPr>
        <p:spPr>
          <a:xfrm>
            <a:off x="6731000" y="4902200"/>
            <a:ext cx="5029200" cy="10668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9" name="env"/>
          <p:cNvSpPr>
            <a:spLocks noGrp="1"/>
          </p:cNvSpPr>
          <p:nvPr/>
        </p:nvSpPr>
        <p:spPr>
          <a:xfrm>
            <a:off x="6934200" y="5003800"/>
            <a:ext cx="46482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50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下一步优先补充砂堵段、动作扰动样本和跨段验证。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成果3-3：课程训练逐步增加高风险场景难度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训练课程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正常生长 → 基线施工 → 压力临界 → 分簇不均衡 → 暂堵阶段 → 砂堵风险 → 全场景联合训练。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3454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训练机制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v180"/>
          <p:cNvSpPr>
            <a:spLocks noGrp="1"/>
          </p:cNvSpPr>
          <p:nvPr/>
        </p:nvSpPr>
        <p:spPr>
          <a:xfrm>
            <a:off x="508000" y="37846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使用Gymnasium接口训练PPO/SAC；支持检查点、断点续训、多随机种子和评估模式；风险场景加权回放提高砂堵样本出现频率。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s-bg"/>
          <p:cNvSpPr>
            <a:spLocks noGrp="1"/>
          </p:cNvSpPr>
          <p:nvPr/>
        </p:nvSpPr>
        <p:spPr>
          <a:xfrm>
            <a:off x="508000" y="5130800"/>
            <a:ext cx="5969000" cy="8382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14" name="res"/>
          <p:cNvSpPr>
            <a:spLocks noGrp="1"/>
          </p:cNvSpPr>
          <p:nvPr/>
        </p:nvSpPr>
        <p:spPr>
          <a:xfrm>
            <a:off x="711200" y="5219700"/>
            <a:ext cx="558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课程训练避免策略在早期被高风险稀疏奖励压垮，再逐步强化复杂场景。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chart"/>
          <p:cNvPicPr>
            <a:picLocks noChangeAspect="1"/>
          </p:cNvPicPr>
          <p:nvPr/>
        </p:nvPicPr>
        <p:blipFill>
          <a:blip r:embed="rId5"/>
          <a:srcRect l="-179" r="-179"/>
          <a:stretch>
            <a:fillRect/>
          </a:stretch>
        </p:blipFill>
        <p:spPr>
          <a:xfrm>
            <a:off x="6731000" y="1371600"/>
            <a:ext cx="5029200" cy="3276600"/>
          </a:xfrm>
          <a:prstGeom prst="rect">
            <a:avLst/>
          </a:prstGeom>
          <a:ln>
            <a:noFill/>
          </a:ln>
        </p:spPr>
      </p:pic>
      <p:sp>
        <p:nvSpPr>
          <p:cNvPr id="16" name="chartcap"/>
          <p:cNvSpPr>
            <a:spLocks noGrp="1"/>
          </p:cNvSpPr>
          <p:nvPr/>
        </p:nvSpPr>
        <p:spPr>
          <a:xfrm>
            <a:off x="6731000" y="46736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课程训练阶段与风险权重变化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note-bg"/>
          <p:cNvSpPr>
            <a:spLocks noGrp="1"/>
          </p:cNvSpPr>
          <p:nvPr/>
        </p:nvSpPr>
        <p:spPr>
          <a:xfrm>
            <a:off x="6731000" y="4978400"/>
            <a:ext cx="50292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8" name="note"/>
          <p:cNvSpPr>
            <a:spLocks noGrp="1"/>
          </p:cNvSpPr>
          <p:nvPr/>
        </p:nvSpPr>
        <p:spPr>
          <a:xfrm>
            <a:off x="6934200" y="5067300"/>
            <a:ext cx="4648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9C6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六类固定场景主要用于训练压力测试和验收，不替代真实历史段。</a:t>
            </a:r>
            <a:endParaRPr sz="1200" b="1">
              <a:solidFill>
                <a:srgbClr val="9C6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成果3-3：强化学习策略与历史动作进行奖励和轨迹对比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对比口径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同一历史状态下分别执行历史动作和强化学习动作；两者经过相同安全投影和数字孪生环境，比较累计奖励与分项奖励。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3454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动作轨迹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v180"/>
          <p:cNvSpPr>
            <a:spLocks noGrp="1"/>
          </p:cNvSpPr>
          <p:nvPr/>
        </p:nvSpPr>
        <p:spPr>
          <a:xfrm>
            <a:off x="508000" y="37846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展示未来60秒排量、砂比的历史基线和约束后策略曲线；策略通常更平滑，并在压力或风险升高时减少激进行为。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s-bg"/>
          <p:cNvSpPr>
            <a:spLocks noGrp="1"/>
          </p:cNvSpPr>
          <p:nvPr/>
        </p:nvSpPr>
        <p:spPr>
          <a:xfrm>
            <a:off x="508000" y="5130800"/>
            <a:ext cx="5969000" cy="8382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14" name="res"/>
          <p:cNvSpPr>
            <a:spLocks noGrp="1"/>
          </p:cNvSpPr>
          <p:nvPr/>
        </p:nvSpPr>
        <p:spPr>
          <a:xfrm>
            <a:off x="711200" y="5219700"/>
            <a:ext cx="558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阶段实验中强化学习提高改造效果分量，但可能增加施工成本，需要在安全、效果和成本间继续标定权重。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hartcap"/>
          <p:cNvSpPr>
            <a:spLocks noGrp="1"/>
          </p:cNvSpPr>
          <p:nvPr/>
        </p:nvSpPr>
        <p:spPr>
          <a:xfrm>
            <a:off x="6731000" y="46736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历史动作与强化学习动作的累计奖励/分量对比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note-bg"/>
          <p:cNvSpPr>
            <a:spLocks noGrp="1"/>
          </p:cNvSpPr>
          <p:nvPr/>
        </p:nvSpPr>
        <p:spPr>
          <a:xfrm>
            <a:off x="6731000" y="4978400"/>
            <a:ext cx="50292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8" name="note"/>
          <p:cNvSpPr>
            <a:spLocks noGrp="1"/>
          </p:cNvSpPr>
          <p:nvPr/>
        </p:nvSpPr>
        <p:spPr>
          <a:xfrm>
            <a:off x="6934200" y="5067300"/>
            <a:ext cx="4648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9C6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奖励改善是仿真环境内结果，不等同于现场产量提升。</a:t>
            </a:r>
            <a:endParaRPr sz="1200" b="1">
              <a:solidFill>
                <a:srgbClr val="9C6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346447"/>
            <a:ext cx="5381625" cy="20698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5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8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成果3-3：180秒验证检查动作后的连续三个60秒窗口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安全门禁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每个动作后检查180秒内井底压力、净压力、异常概率、砂堵概率、动作越界和模型不确定性；任何窗口失败均记录原因。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3454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阶段结果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v180"/>
          <p:cNvSpPr>
            <a:spLocks noGrp="1"/>
          </p:cNvSpPr>
          <p:nvPr/>
        </p:nvSpPr>
        <p:spPr>
          <a:xfrm>
            <a:off x="508000" y="37846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风险加权回放阶段最佳总体安全率90.28%；正常、基线、分簇不均衡、压力临界和暂堵阶段为100%；砂堵风险场景约42%。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s-bg"/>
          <p:cNvSpPr>
            <a:spLocks noGrp="1"/>
          </p:cNvSpPr>
          <p:nvPr/>
        </p:nvSpPr>
        <p:spPr>
          <a:xfrm>
            <a:off x="508000" y="5130800"/>
            <a:ext cx="5969000" cy="8382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14" name="res"/>
          <p:cNvSpPr>
            <a:spLocks noGrp="1"/>
          </p:cNvSpPr>
          <p:nvPr/>
        </p:nvSpPr>
        <p:spPr>
          <a:xfrm>
            <a:off x="711200" y="5219700"/>
            <a:ext cx="558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砂堵风险仍是主要短板，尚未达到全场景180秒安全目标。</a:t>
            </a:r>
            <a:endParaRPr sz="120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hartcap"/>
          <p:cNvSpPr>
            <a:spLocks noGrp="1"/>
          </p:cNvSpPr>
          <p:nvPr/>
        </p:nvSpPr>
        <p:spPr>
          <a:xfrm>
            <a:off x="6731000" y="46736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逐场景180秒安全率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note-bg"/>
          <p:cNvSpPr>
            <a:spLocks noGrp="1"/>
          </p:cNvSpPr>
          <p:nvPr/>
        </p:nvSpPr>
        <p:spPr>
          <a:xfrm>
            <a:off x="6731000" y="4978400"/>
            <a:ext cx="50292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8" name="note"/>
          <p:cNvSpPr>
            <a:spLocks noGrp="1"/>
          </p:cNvSpPr>
          <p:nvPr/>
        </p:nvSpPr>
        <p:spPr>
          <a:xfrm>
            <a:off x="6934200" y="5067300"/>
            <a:ext cx="4648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 b="1">
                <a:solidFill>
                  <a:srgbClr val="9C65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90.28%是阶段最佳实验，不代表最终模型已经全场景验收达标。</a:t>
            </a:r>
            <a:endParaRPr sz="1200" b="1">
              <a:solidFill>
                <a:srgbClr val="9C65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2148086"/>
            <a:ext cx="5381625" cy="246657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7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9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30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成果3-4：将操作不安全与模型不确定分开处理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操作风险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压力越界、排量/砂比越界、单步变化过大、违反停泵或提砂规则，属于动作本身不安全。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3200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模型不确定性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hmi"/>
          <p:cNvSpPr>
            <a:spLocks noGrp="1"/>
          </p:cNvSpPr>
          <p:nvPr/>
        </p:nvSpPr>
        <p:spPr>
          <a:xfrm>
            <a:off x="508000" y="3530600"/>
            <a:ext cx="5969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EnKF残差过大、集合离散度高、代理模型OOD、数据缺失或传感器突跳，属于模型证据不足。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处理方式：保持当前动作、降低控制权限并请求人工确认。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x-bg"/>
          <p:cNvSpPr>
            <a:spLocks noGrp="1"/>
          </p:cNvSpPr>
          <p:nvPr/>
        </p:nvSpPr>
        <p:spPr>
          <a:xfrm>
            <a:off x="508000" y="5613400"/>
            <a:ext cx="5969000" cy="3810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4" name="ex"/>
          <p:cNvSpPr>
            <a:spLocks noGrp="1"/>
          </p:cNvSpPr>
          <p:nvPr/>
        </p:nvSpPr>
        <p:spPr>
          <a:xfrm>
            <a:off x="660400" y="56769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不确定不等于危险，但不能据此自动执行高风险动作。</a:t>
            </a:r>
            <a:endParaRPr sz="11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hmiimg"/>
          <p:cNvPicPr>
            <a:picLocks noChangeAspect="1"/>
          </p:cNvPicPr>
          <p:nvPr/>
        </p:nvPicPr>
        <p:blipFill>
          <a:blip r:embed="rId5"/>
          <a:srcRect t="-26" b="-26"/>
          <a:stretch>
            <a:fillRect/>
          </a:stretch>
        </p:blipFill>
        <p:spPr>
          <a:xfrm>
            <a:off x="6731000" y="1498600"/>
            <a:ext cx="5029200" cy="1879600"/>
          </a:xfrm>
          <a:prstGeom prst="rect">
            <a:avLst/>
          </a:prstGeom>
          <a:ln>
            <a:noFill/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pic>
      <p:sp>
        <p:nvSpPr>
          <p:cNvPr id="16" name="hmiimg-border"/>
          <p:cNvSpPr>
            <a:spLocks noGrp="1"/>
          </p:cNvSpPr>
          <p:nvPr/>
        </p:nvSpPr>
        <p:spPr>
          <a:xfrm>
            <a:off x="6731000" y="1498600"/>
            <a:ext cx="5029200" cy="18796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hmiimgcap"/>
          <p:cNvSpPr>
            <a:spLocks noGrp="1"/>
          </p:cNvSpPr>
          <p:nvPr/>
        </p:nvSpPr>
        <p:spPr>
          <a:xfrm>
            <a:off x="6731000" y="34290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操作安全与模型可信度二维判定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hmiimg2-border"/>
          <p:cNvSpPr>
            <a:spLocks noGrp="1"/>
          </p:cNvSpPr>
          <p:nvPr/>
        </p:nvSpPr>
        <p:spPr>
          <a:xfrm>
            <a:off x="6731000" y="3759200"/>
            <a:ext cx="5029200" cy="22098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20" name="hmiimg2cap"/>
          <p:cNvSpPr>
            <a:spLocks noGrp="1"/>
          </p:cNvSpPr>
          <p:nvPr/>
        </p:nvSpPr>
        <p:spPr>
          <a:xfrm>
            <a:off x="6731000" y="60198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 / 降级 / 人工接管流程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6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8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9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成果3-4：推荐动作携带风险、证据和人工确认要求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1"/>
          <p:cNvSpPr>
            <a:spLocks noGrp="1"/>
          </p:cNvSpPr>
          <p:nvPr/>
        </p:nvSpPr>
        <p:spPr>
          <a:xfrm>
            <a:off x="508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统一决策输出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work"/>
          <p:cNvSpPr>
            <a:spLocks noGrp="1"/>
          </p:cNvSpPr>
          <p:nvPr/>
        </p:nvSpPr>
        <p:spPr>
          <a:xfrm>
            <a:off x="508000" y="16256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当前阶段、当前工况、未来状态概率、建议排量/砂比、风险等级、不确定性等级、主要风险、触发原因和确认要求。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2"/>
          <p:cNvSpPr>
            <a:spLocks noGrp="1"/>
          </p:cNvSpPr>
          <p:nvPr/>
        </p:nvSpPr>
        <p:spPr>
          <a:xfrm>
            <a:off x="508000" y="3200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hmi"/>
          <p:cNvSpPr>
            <a:spLocks noGrp="1"/>
          </p:cNvSpPr>
          <p:nvPr/>
        </p:nvSpPr>
        <p:spPr>
          <a:xfrm>
            <a:off x="508000" y="3530600"/>
            <a:ext cx="5969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stage=08；main_risk=分簇进液不均衡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recommendation=降低砂比并观察第3、第5簇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requires_confirmation=true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evidence：EnKF残差、均衡程度、主导簇和OOD评分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x-bg"/>
          <p:cNvSpPr>
            <a:spLocks noGrp="1"/>
          </p:cNvSpPr>
          <p:nvPr/>
        </p:nvSpPr>
        <p:spPr>
          <a:xfrm>
            <a:off x="508000" y="5613400"/>
            <a:ext cx="5969000" cy="381000"/>
          </a:xfrm>
          <a:prstGeom prst="roundRect">
            <a:avLst/>
          </a:prstGeom>
          <a:solidFill>
            <a:srgbClr val="EAF3FA"/>
          </a:solidFill>
          <a:ln w="12700">
            <a:solidFill>
              <a:srgbClr val="9DC3E6"/>
            </a:solidFill>
          </a:ln>
        </p:spPr>
      </p:sp>
      <p:sp>
        <p:nvSpPr>
          <p:cNvPr id="14" name="ex"/>
          <p:cNvSpPr>
            <a:spLocks noGrp="1"/>
          </p:cNvSpPr>
          <p:nvPr/>
        </p:nvSpPr>
        <p:spPr>
          <a:xfrm>
            <a:off x="660400" y="56769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权限：查看 / 工程师建议 / 监督确认；当前默认advisory_only。</a:t>
            </a:r>
            <a:endParaRPr sz="11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hmiimg-border"/>
          <p:cNvSpPr>
            <a:spLocks noGrp="1"/>
          </p:cNvSpPr>
          <p:nvPr/>
        </p:nvSpPr>
        <p:spPr>
          <a:xfrm>
            <a:off x="6731000" y="1498600"/>
            <a:ext cx="5029200" cy="18796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7" name="hmiimgcap"/>
          <p:cNvSpPr>
            <a:spLocks noGrp="1"/>
          </p:cNvSpPr>
          <p:nvPr/>
        </p:nvSpPr>
        <p:spPr>
          <a:xfrm>
            <a:off x="6762750" y="1476375"/>
            <a:ext cx="4857750" cy="3333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结构化决策输出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stage：08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current_state：携砂阶段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main_risk：分簇进液不均衡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recommendation：降低砂比并观察第3、第5簇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requires_confirmation：true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evidence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EnKF残差 / 均衡程度 / 主导簇 / OOD评分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9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40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2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43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成果4：三模块通过统一CLI/API形成可调用工程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1-bg"/>
          <p:cNvSpPr>
            <a:spLocks noGrp="1"/>
          </p:cNvSpPr>
          <p:nvPr/>
        </p:nvSpPr>
        <p:spPr>
          <a:xfrm>
            <a:off x="508000" y="1371600"/>
            <a:ext cx="5461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0" name="m1-ic"/>
          <p:cNvSpPr>
            <a:spLocks noGrp="1"/>
          </p:cNvSpPr>
          <p:nvPr/>
        </p:nvSpPr>
        <p:spPr>
          <a:xfrm>
            <a:off x="685800" y="1536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0" y="56"/>
                </a:moveTo>
                <a:cubicBezTo>
                  <a:pt x="120" y="25"/>
                  <a:pt x="145" y="0"/>
                  <a:pt x="176" y="0"/>
                </a:cubicBezTo>
                <a:lnTo>
                  <a:pt x="200" y="0"/>
                </a:lnTo>
                <a:cubicBezTo>
                  <a:pt x="218" y="0"/>
                  <a:pt x="232" y="14"/>
                  <a:pt x="232" y="32"/>
                </a:cubicBezTo>
                <a:lnTo>
                  <a:pt x="232" y="480"/>
                </a:lnTo>
                <a:cubicBezTo>
                  <a:pt x="232" y="498"/>
                  <a:pt x="218" y="512"/>
                  <a:pt x="200" y="512"/>
                </a:cubicBezTo>
                <a:lnTo>
                  <a:pt x="168" y="512"/>
                </a:lnTo>
                <a:cubicBezTo>
                  <a:pt x="138" y="512"/>
                  <a:pt x="113" y="492"/>
                  <a:pt x="106" y="464"/>
                </a:cubicBezTo>
                <a:cubicBezTo>
                  <a:pt x="105" y="464"/>
                  <a:pt x="105" y="464"/>
                  <a:pt x="104" y="464"/>
                </a:cubicBezTo>
                <a:cubicBezTo>
                  <a:pt x="60" y="464"/>
                  <a:pt x="24" y="428"/>
                  <a:pt x="24" y="384"/>
                </a:cubicBezTo>
                <a:cubicBezTo>
                  <a:pt x="24" y="366"/>
                  <a:pt x="30" y="349"/>
                  <a:pt x="40" y="336"/>
                </a:cubicBezTo>
                <a:cubicBezTo>
                  <a:pt x="21" y="321"/>
                  <a:pt x="8" y="298"/>
                  <a:pt x="8" y="272"/>
                </a:cubicBezTo>
                <a:cubicBezTo>
                  <a:pt x="8" y="241"/>
                  <a:pt x="26" y="214"/>
                  <a:pt x="51" y="201"/>
                </a:cubicBezTo>
                <a:cubicBezTo>
                  <a:pt x="44" y="189"/>
                  <a:pt x="40" y="175"/>
                  <a:pt x="40" y="160"/>
                </a:cubicBezTo>
                <a:cubicBezTo>
                  <a:pt x="40" y="116"/>
                  <a:pt x="76" y="80"/>
                  <a:pt x="120" y="80"/>
                </a:cubicBezTo>
                <a:lnTo>
                  <a:pt x="120" y="56"/>
                </a:lnTo>
                <a:close/>
                <a:moveTo>
                  <a:pt x="392" y="56"/>
                </a:moveTo>
                <a:lnTo>
                  <a:pt x="392" y="80"/>
                </a:lnTo>
                <a:cubicBezTo>
                  <a:pt x="436" y="80"/>
                  <a:pt x="472" y="116"/>
                  <a:pt x="472" y="160"/>
                </a:cubicBezTo>
                <a:cubicBezTo>
                  <a:pt x="472" y="175"/>
                  <a:pt x="468" y="189"/>
                  <a:pt x="461" y="201"/>
                </a:cubicBezTo>
                <a:cubicBezTo>
                  <a:pt x="487" y="214"/>
                  <a:pt x="504" y="241"/>
                  <a:pt x="504" y="272"/>
                </a:cubicBezTo>
                <a:cubicBezTo>
                  <a:pt x="504" y="298"/>
                  <a:pt x="491" y="321"/>
                  <a:pt x="472" y="336"/>
                </a:cubicBezTo>
                <a:cubicBezTo>
                  <a:pt x="482" y="349"/>
                  <a:pt x="488" y="366"/>
                  <a:pt x="488" y="384"/>
                </a:cubicBezTo>
                <a:cubicBezTo>
                  <a:pt x="488" y="428"/>
                  <a:pt x="452" y="464"/>
                  <a:pt x="408" y="464"/>
                </a:cubicBezTo>
                <a:cubicBezTo>
                  <a:pt x="407" y="464"/>
                  <a:pt x="407" y="464"/>
                  <a:pt x="406" y="464"/>
                </a:cubicBezTo>
                <a:cubicBezTo>
                  <a:pt x="399" y="492"/>
                  <a:pt x="374" y="512"/>
                  <a:pt x="344" y="512"/>
                </a:cubicBezTo>
                <a:lnTo>
                  <a:pt x="312" y="512"/>
                </a:lnTo>
                <a:cubicBezTo>
                  <a:pt x="294" y="512"/>
                  <a:pt x="280" y="498"/>
                  <a:pt x="280" y="480"/>
                </a:cubicBezTo>
                <a:lnTo>
                  <a:pt x="280" y="32"/>
                </a:lnTo>
                <a:cubicBezTo>
                  <a:pt x="280" y="14"/>
                  <a:pt x="294" y="0"/>
                  <a:pt x="312" y="0"/>
                </a:cubicBezTo>
                <a:lnTo>
                  <a:pt x="336" y="0"/>
                </a:lnTo>
                <a:cubicBezTo>
                  <a:pt x="367" y="0"/>
                  <a:pt x="392" y="25"/>
                  <a:pt x="392" y="5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1" name="m1-title"/>
          <p:cNvSpPr>
            <a:spLocks noGrp="1"/>
          </p:cNvSpPr>
          <p:nvPr/>
        </p:nvSpPr>
        <p:spPr>
          <a:xfrm>
            <a:off x="1117600" y="15240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FSL-Expert（知识与识别）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1-body"/>
          <p:cNvSpPr>
            <a:spLocks noGrp="1"/>
          </p:cNvSpPr>
          <p:nvPr/>
        </p:nvSpPr>
        <p:spPr>
          <a:xfrm>
            <a:off x="711200" y="193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知识图谱、GNN、迁移学习、两阶段识别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m2-bg"/>
          <p:cNvSpPr>
            <a:spLocks noGrp="1"/>
          </p:cNvSpPr>
          <p:nvPr/>
        </p:nvSpPr>
        <p:spPr>
          <a:xfrm>
            <a:off x="508000" y="2540000"/>
            <a:ext cx="5461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4" name="m2-ic"/>
          <p:cNvSpPr>
            <a:spLocks noGrp="1"/>
          </p:cNvSpPr>
          <p:nvPr/>
        </p:nvSpPr>
        <p:spPr>
          <a:xfrm>
            <a:off x="685800" y="2705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-2"/>
                </a:moveTo>
                <a:cubicBezTo>
                  <a:pt x="244" y="-14"/>
                  <a:pt x="269" y="-14"/>
                  <a:pt x="288" y="-2"/>
                </a:cubicBezTo>
                <a:lnTo>
                  <a:pt x="464" y="99"/>
                </a:lnTo>
                <a:cubicBezTo>
                  <a:pt x="484" y="110"/>
                  <a:pt x="496" y="132"/>
                  <a:pt x="496" y="154"/>
                </a:cubicBezTo>
                <a:lnTo>
                  <a:pt x="496" y="357"/>
                </a:lnTo>
                <a:cubicBezTo>
                  <a:pt x="496" y="380"/>
                  <a:pt x="484" y="401"/>
                  <a:pt x="464" y="413"/>
                </a:cubicBezTo>
                <a:lnTo>
                  <a:pt x="288" y="515"/>
                </a:lnTo>
                <a:cubicBezTo>
                  <a:pt x="269" y="526"/>
                  <a:pt x="244" y="526"/>
                  <a:pt x="224" y="515"/>
                </a:cubicBezTo>
                <a:lnTo>
                  <a:pt x="49" y="413"/>
                </a:lnTo>
                <a:cubicBezTo>
                  <a:pt x="29" y="402"/>
                  <a:pt x="17" y="380"/>
                  <a:pt x="17" y="358"/>
                </a:cubicBezTo>
                <a:lnTo>
                  <a:pt x="17" y="155"/>
                </a:lnTo>
                <a:cubicBezTo>
                  <a:pt x="17" y="132"/>
                  <a:pt x="29" y="111"/>
                  <a:pt x="49" y="99"/>
                </a:cubicBezTo>
                <a:lnTo>
                  <a:pt x="224" y="-2"/>
                </a:lnTo>
                <a:close/>
                <a:moveTo>
                  <a:pt x="432" y="358"/>
                </a:moveTo>
                <a:lnTo>
                  <a:pt x="432" y="191"/>
                </a:lnTo>
                <a:lnTo>
                  <a:pt x="288" y="274"/>
                </a:lnTo>
                <a:lnTo>
                  <a:pt x="288" y="441"/>
                </a:lnTo>
                <a:lnTo>
                  <a:pt x="432" y="35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5" name="m2-title"/>
          <p:cNvSpPr>
            <a:spLocks noGrp="1"/>
          </p:cNvSpPr>
          <p:nvPr/>
        </p:nvSpPr>
        <p:spPr>
          <a:xfrm>
            <a:off x="1117600" y="26924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DT-Crack（数字孪生）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m2-body"/>
          <p:cNvSpPr>
            <a:spLocks noGrp="1"/>
          </p:cNvSpPr>
          <p:nvPr/>
        </p:nvSpPr>
        <p:spPr>
          <a:xfrm>
            <a:off x="711200" y="30988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多源融合、PKN/BEM、EnKF、3D展示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m3-bg"/>
          <p:cNvSpPr>
            <a:spLocks noGrp="1"/>
          </p:cNvSpPr>
          <p:nvPr/>
        </p:nvSpPr>
        <p:spPr>
          <a:xfrm>
            <a:off x="508000" y="3708400"/>
            <a:ext cx="5461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8" name="m3-ic"/>
          <p:cNvSpPr>
            <a:spLocks noGrp="1"/>
          </p:cNvSpPr>
          <p:nvPr/>
        </p:nvSpPr>
        <p:spPr>
          <a:xfrm>
            <a:off x="685800" y="387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9" name="m3-title"/>
          <p:cNvSpPr>
            <a:spLocks noGrp="1"/>
          </p:cNvSpPr>
          <p:nvPr/>
        </p:nvSpPr>
        <p:spPr>
          <a:xfrm>
            <a:off x="1117600" y="38608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HMI-KE（智能调控）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m3-body"/>
          <p:cNvSpPr>
            <a:spLocks noGrp="1"/>
          </p:cNvSpPr>
          <p:nvPr/>
        </p:nvSpPr>
        <p:spPr>
          <a:xfrm>
            <a:off x="711200" y="4267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决策引擎、Gymnasium、PPO/SAC、180秒验证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m4-bg"/>
          <p:cNvSpPr>
            <a:spLocks noGrp="1"/>
          </p:cNvSpPr>
          <p:nvPr/>
        </p:nvSpPr>
        <p:spPr>
          <a:xfrm>
            <a:off x="508000" y="4876800"/>
            <a:ext cx="5461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2" name="m4-ic"/>
          <p:cNvSpPr>
            <a:spLocks noGrp="1"/>
          </p:cNvSpPr>
          <p:nvPr/>
        </p:nvSpPr>
        <p:spPr>
          <a:xfrm>
            <a:off x="685800" y="5041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  <a:moveTo>
                  <a:pt x="96" y="96"/>
                </a:move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lnTo>
                  <a:pt x="448" y="288"/>
                </a:lnTo>
                <a:cubicBezTo>
                  <a:pt x="448" y="306"/>
                  <a:pt x="434" y="320"/>
                  <a:pt x="416" y="320"/>
                </a:cubicBezTo>
                <a:lnTo>
                  <a:pt x="96" y="320"/>
                </a:lnTo>
                <a:cubicBezTo>
                  <a:pt x="78" y="320"/>
                  <a:pt x="64" y="306"/>
                  <a:pt x="64" y="288"/>
                </a:cubicBezTo>
                <a:lnTo>
                  <a:pt x="64" y="128"/>
                </a:lnTo>
                <a:cubicBezTo>
                  <a:pt x="64" y="110"/>
                  <a:pt x="78" y="96"/>
                  <a:pt x="96" y="9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23" name="m4-title"/>
          <p:cNvSpPr>
            <a:spLocks noGrp="1"/>
          </p:cNvSpPr>
          <p:nvPr/>
        </p:nvSpPr>
        <p:spPr>
          <a:xfrm>
            <a:off x="1117600" y="50292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App（联合演示）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m4-body"/>
          <p:cNvSpPr>
            <a:spLocks noGrp="1"/>
          </p:cNvSpPr>
          <p:nvPr/>
        </p:nvSpPr>
        <p:spPr>
          <a:xfrm>
            <a:off x="711200" y="54356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三条合同主线联合演示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h1"/>
          <p:cNvSpPr>
            <a:spLocks noGrp="1"/>
          </p:cNvSpPr>
          <p:nvPr/>
        </p:nvSpPr>
        <p:spPr>
          <a:xfrm>
            <a:off x="6350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统一能力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ap"/>
          <p:cNvSpPr>
            <a:spLocks noGrp="1"/>
          </p:cNvSpPr>
          <p:nvPr/>
        </p:nvSpPr>
        <p:spPr>
          <a:xfrm>
            <a:off x="6350000" y="1625600"/>
            <a:ext cx="5410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run_project.py提供fsl、dt、hmi和app统一入口；模块之间只调用公开接口，数据统一从Data读取，输出统一写入outputs。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1-bg"/>
          <p:cNvSpPr>
            <a:spLocks noGrp="1"/>
          </p:cNvSpPr>
          <p:nvPr/>
        </p:nvSpPr>
        <p:spPr>
          <a:xfrm>
            <a:off x="6350000" y="4089400"/>
            <a:ext cx="17272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8" name="t1-t"/>
          <p:cNvSpPr>
            <a:spLocks noGrp="1"/>
          </p:cNvSpPr>
          <p:nvPr/>
        </p:nvSpPr>
        <p:spPr>
          <a:xfrm>
            <a:off x="6400800" y="4140200"/>
            <a:ext cx="1625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统一入口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2-bg"/>
          <p:cNvSpPr>
            <a:spLocks noGrp="1"/>
          </p:cNvSpPr>
          <p:nvPr/>
        </p:nvSpPr>
        <p:spPr>
          <a:xfrm>
            <a:off x="8204200" y="4089400"/>
            <a:ext cx="17272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0" name="t2-t"/>
          <p:cNvSpPr>
            <a:spLocks noGrp="1"/>
          </p:cNvSpPr>
          <p:nvPr/>
        </p:nvSpPr>
        <p:spPr>
          <a:xfrm>
            <a:off x="8255000" y="4140200"/>
            <a:ext cx="1625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模块解耦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3-bg"/>
          <p:cNvSpPr>
            <a:spLocks noGrp="1"/>
          </p:cNvSpPr>
          <p:nvPr/>
        </p:nvSpPr>
        <p:spPr>
          <a:xfrm>
            <a:off x="10058400" y="4089400"/>
            <a:ext cx="17018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2" name="t3-t"/>
          <p:cNvSpPr>
            <a:spLocks noGrp="1"/>
          </p:cNvSpPr>
          <p:nvPr/>
        </p:nvSpPr>
        <p:spPr>
          <a:xfrm>
            <a:off x="10109200" y="4140200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7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</a:t>
            </a:r>
            <a:endParaRPr sz="17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统一输出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note-bg"/>
          <p:cNvSpPr>
            <a:spLocks noGrp="1"/>
          </p:cNvSpPr>
          <p:nvPr/>
        </p:nvSpPr>
        <p:spPr>
          <a:xfrm>
            <a:off x="6350000" y="5257800"/>
            <a:ext cx="54102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4" name="note"/>
          <p:cNvSpPr>
            <a:spLocks noGrp="1"/>
          </p:cNvSpPr>
          <p:nvPr/>
        </p:nvSpPr>
        <p:spPr>
          <a:xfrm>
            <a:off x="6553200" y="5346700"/>
            <a:ext cx="5029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算法模块可独立运行，也可按“识别—孪生—决策”顺序联合调用。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9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40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2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43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二、获得的创新成果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成果4：代表性模型、指标快照与源码指纹支持复现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1-bg"/>
          <p:cNvSpPr>
            <a:spLocks noGrp="1"/>
          </p:cNvSpPr>
          <p:nvPr/>
        </p:nvSpPr>
        <p:spPr>
          <a:xfrm>
            <a:off x="508000" y="1371600"/>
            <a:ext cx="5461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0" name="m1-ic"/>
          <p:cNvSpPr>
            <a:spLocks noGrp="1"/>
          </p:cNvSpPr>
          <p:nvPr/>
        </p:nvSpPr>
        <p:spPr>
          <a:xfrm>
            <a:off x="685800" y="1536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0" y="56"/>
                </a:moveTo>
                <a:cubicBezTo>
                  <a:pt x="120" y="25"/>
                  <a:pt x="145" y="0"/>
                  <a:pt x="176" y="0"/>
                </a:cubicBezTo>
                <a:lnTo>
                  <a:pt x="200" y="0"/>
                </a:lnTo>
                <a:cubicBezTo>
                  <a:pt x="218" y="0"/>
                  <a:pt x="232" y="14"/>
                  <a:pt x="232" y="32"/>
                </a:cubicBezTo>
                <a:lnTo>
                  <a:pt x="232" y="480"/>
                </a:lnTo>
                <a:cubicBezTo>
                  <a:pt x="232" y="498"/>
                  <a:pt x="218" y="512"/>
                  <a:pt x="200" y="512"/>
                </a:cubicBezTo>
                <a:lnTo>
                  <a:pt x="168" y="512"/>
                </a:lnTo>
                <a:cubicBezTo>
                  <a:pt x="138" y="512"/>
                  <a:pt x="113" y="492"/>
                  <a:pt x="106" y="464"/>
                </a:cubicBezTo>
                <a:cubicBezTo>
                  <a:pt x="105" y="464"/>
                  <a:pt x="105" y="464"/>
                  <a:pt x="104" y="464"/>
                </a:cubicBezTo>
                <a:cubicBezTo>
                  <a:pt x="60" y="464"/>
                  <a:pt x="24" y="428"/>
                  <a:pt x="24" y="384"/>
                </a:cubicBezTo>
                <a:cubicBezTo>
                  <a:pt x="24" y="366"/>
                  <a:pt x="30" y="349"/>
                  <a:pt x="40" y="336"/>
                </a:cubicBezTo>
                <a:cubicBezTo>
                  <a:pt x="21" y="321"/>
                  <a:pt x="8" y="298"/>
                  <a:pt x="8" y="272"/>
                </a:cubicBezTo>
                <a:cubicBezTo>
                  <a:pt x="8" y="241"/>
                  <a:pt x="26" y="214"/>
                  <a:pt x="51" y="201"/>
                </a:cubicBezTo>
                <a:cubicBezTo>
                  <a:pt x="44" y="189"/>
                  <a:pt x="40" y="175"/>
                  <a:pt x="40" y="160"/>
                </a:cubicBezTo>
                <a:cubicBezTo>
                  <a:pt x="40" y="116"/>
                  <a:pt x="76" y="80"/>
                  <a:pt x="120" y="80"/>
                </a:cubicBezTo>
                <a:lnTo>
                  <a:pt x="120" y="56"/>
                </a:lnTo>
                <a:close/>
                <a:moveTo>
                  <a:pt x="392" y="56"/>
                </a:moveTo>
                <a:lnTo>
                  <a:pt x="392" y="80"/>
                </a:lnTo>
                <a:cubicBezTo>
                  <a:pt x="436" y="80"/>
                  <a:pt x="472" y="116"/>
                  <a:pt x="472" y="160"/>
                </a:cubicBezTo>
                <a:cubicBezTo>
                  <a:pt x="472" y="175"/>
                  <a:pt x="468" y="189"/>
                  <a:pt x="461" y="201"/>
                </a:cubicBezTo>
                <a:cubicBezTo>
                  <a:pt x="487" y="214"/>
                  <a:pt x="504" y="241"/>
                  <a:pt x="504" y="272"/>
                </a:cubicBezTo>
                <a:cubicBezTo>
                  <a:pt x="504" y="298"/>
                  <a:pt x="491" y="321"/>
                  <a:pt x="472" y="336"/>
                </a:cubicBezTo>
                <a:cubicBezTo>
                  <a:pt x="482" y="349"/>
                  <a:pt x="488" y="366"/>
                  <a:pt x="488" y="384"/>
                </a:cubicBezTo>
                <a:cubicBezTo>
                  <a:pt x="488" y="428"/>
                  <a:pt x="452" y="464"/>
                  <a:pt x="408" y="464"/>
                </a:cubicBezTo>
                <a:cubicBezTo>
                  <a:pt x="407" y="464"/>
                  <a:pt x="407" y="464"/>
                  <a:pt x="406" y="464"/>
                </a:cubicBezTo>
                <a:cubicBezTo>
                  <a:pt x="399" y="492"/>
                  <a:pt x="374" y="512"/>
                  <a:pt x="344" y="512"/>
                </a:cubicBezTo>
                <a:lnTo>
                  <a:pt x="312" y="512"/>
                </a:lnTo>
                <a:cubicBezTo>
                  <a:pt x="294" y="512"/>
                  <a:pt x="280" y="498"/>
                  <a:pt x="280" y="480"/>
                </a:cubicBezTo>
                <a:lnTo>
                  <a:pt x="280" y="32"/>
                </a:lnTo>
                <a:cubicBezTo>
                  <a:pt x="280" y="14"/>
                  <a:pt x="294" y="0"/>
                  <a:pt x="312" y="0"/>
                </a:cubicBezTo>
                <a:lnTo>
                  <a:pt x="336" y="0"/>
                </a:lnTo>
                <a:cubicBezTo>
                  <a:pt x="367" y="0"/>
                  <a:pt x="392" y="25"/>
                  <a:pt x="392" y="5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1" name="m1-title"/>
          <p:cNvSpPr>
            <a:spLocks noGrp="1"/>
          </p:cNvSpPr>
          <p:nvPr/>
        </p:nvSpPr>
        <p:spPr>
          <a:xfrm>
            <a:off x="1117600" y="15240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FSL-Expert（知识与识别）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1-body"/>
          <p:cNvSpPr>
            <a:spLocks noGrp="1"/>
          </p:cNvSpPr>
          <p:nvPr/>
        </p:nvSpPr>
        <p:spPr>
          <a:xfrm>
            <a:off x="711200" y="1930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数据manifest与保密属性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m2-bg"/>
          <p:cNvSpPr>
            <a:spLocks noGrp="1"/>
          </p:cNvSpPr>
          <p:nvPr/>
        </p:nvSpPr>
        <p:spPr>
          <a:xfrm>
            <a:off x="508000" y="2540000"/>
            <a:ext cx="5461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4" name="m2-ic"/>
          <p:cNvSpPr>
            <a:spLocks noGrp="1"/>
          </p:cNvSpPr>
          <p:nvPr/>
        </p:nvSpPr>
        <p:spPr>
          <a:xfrm>
            <a:off x="685800" y="2705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-2"/>
                </a:moveTo>
                <a:cubicBezTo>
                  <a:pt x="244" y="-14"/>
                  <a:pt x="269" y="-14"/>
                  <a:pt x="288" y="-2"/>
                </a:cubicBezTo>
                <a:lnTo>
                  <a:pt x="464" y="99"/>
                </a:lnTo>
                <a:cubicBezTo>
                  <a:pt x="484" y="110"/>
                  <a:pt x="496" y="132"/>
                  <a:pt x="496" y="154"/>
                </a:cubicBezTo>
                <a:lnTo>
                  <a:pt x="496" y="357"/>
                </a:lnTo>
                <a:cubicBezTo>
                  <a:pt x="496" y="380"/>
                  <a:pt x="484" y="401"/>
                  <a:pt x="464" y="413"/>
                </a:cubicBezTo>
                <a:lnTo>
                  <a:pt x="288" y="515"/>
                </a:lnTo>
                <a:cubicBezTo>
                  <a:pt x="269" y="526"/>
                  <a:pt x="244" y="526"/>
                  <a:pt x="224" y="515"/>
                </a:cubicBezTo>
                <a:lnTo>
                  <a:pt x="49" y="413"/>
                </a:lnTo>
                <a:cubicBezTo>
                  <a:pt x="29" y="402"/>
                  <a:pt x="17" y="380"/>
                  <a:pt x="17" y="358"/>
                </a:cubicBezTo>
                <a:lnTo>
                  <a:pt x="17" y="155"/>
                </a:lnTo>
                <a:cubicBezTo>
                  <a:pt x="17" y="132"/>
                  <a:pt x="29" y="111"/>
                  <a:pt x="49" y="99"/>
                </a:cubicBezTo>
                <a:lnTo>
                  <a:pt x="224" y="-2"/>
                </a:lnTo>
                <a:close/>
                <a:moveTo>
                  <a:pt x="432" y="358"/>
                </a:moveTo>
                <a:lnTo>
                  <a:pt x="432" y="191"/>
                </a:lnTo>
                <a:lnTo>
                  <a:pt x="288" y="274"/>
                </a:lnTo>
                <a:lnTo>
                  <a:pt x="288" y="441"/>
                </a:lnTo>
                <a:lnTo>
                  <a:pt x="432" y="35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5" name="m2-title"/>
          <p:cNvSpPr>
            <a:spLocks noGrp="1"/>
          </p:cNvSpPr>
          <p:nvPr/>
        </p:nvSpPr>
        <p:spPr>
          <a:xfrm>
            <a:off x="1117600" y="26924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DT-Crack（数字孪生）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m2-body"/>
          <p:cNvSpPr>
            <a:spLocks noGrp="1"/>
          </p:cNvSpPr>
          <p:nvPr/>
        </p:nvSpPr>
        <p:spPr>
          <a:xfrm>
            <a:off x="711200" y="30988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模型参数、观测误差与耗时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m3-bg"/>
          <p:cNvSpPr>
            <a:spLocks noGrp="1"/>
          </p:cNvSpPr>
          <p:nvPr/>
        </p:nvSpPr>
        <p:spPr>
          <a:xfrm>
            <a:off x="508000" y="3708400"/>
            <a:ext cx="5461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8" name="m3-ic"/>
          <p:cNvSpPr>
            <a:spLocks noGrp="1"/>
          </p:cNvSpPr>
          <p:nvPr/>
        </p:nvSpPr>
        <p:spPr>
          <a:xfrm>
            <a:off x="685800" y="387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9" name="m3-title"/>
          <p:cNvSpPr>
            <a:spLocks noGrp="1"/>
          </p:cNvSpPr>
          <p:nvPr/>
        </p:nvSpPr>
        <p:spPr>
          <a:xfrm>
            <a:off x="1117600" y="38608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HMI-KE（智能调控）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m3-body"/>
          <p:cNvSpPr>
            <a:spLocks noGrp="1"/>
          </p:cNvSpPr>
          <p:nvPr/>
        </p:nvSpPr>
        <p:spPr>
          <a:xfrm>
            <a:off x="711200" y="4267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策略、奖励、失败窗口和安全率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m4-bg"/>
          <p:cNvSpPr>
            <a:spLocks noGrp="1"/>
          </p:cNvSpPr>
          <p:nvPr/>
        </p:nvSpPr>
        <p:spPr>
          <a:xfrm>
            <a:off x="508000" y="4876800"/>
            <a:ext cx="5461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2" name="m4-ic"/>
          <p:cNvSpPr>
            <a:spLocks noGrp="1"/>
          </p:cNvSpPr>
          <p:nvPr/>
        </p:nvSpPr>
        <p:spPr>
          <a:xfrm>
            <a:off x="685800" y="5041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  <a:moveTo>
                  <a:pt x="96" y="96"/>
                </a:move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lnTo>
                  <a:pt x="448" y="288"/>
                </a:lnTo>
                <a:cubicBezTo>
                  <a:pt x="448" y="306"/>
                  <a:pt x="434" y="320"/>
                  <a:pt x="416" y="320"/>
                </a:cubicBezTo>
                <a:lnTo>
                  <a:pt x="96" y="320"/>
                </a:lnTo>
                <a:cubicBezTo>
                  <a:pt x="78" y="320"/>
                  <a:pt x="64" y="306"/>
                  <a:pt x="64" y="288"/>
                </a:cubicBezTo>
                <a:lnTo>
                  <a:pt x="64" y="128"/>
                </a:lnTo>
                <a:cubicBezTo>
                  <a:pt x="64" y="110"/>
                  <a:pt x="78" y="96"/>
                  <a:pt x="96" y="9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23" name="m4-title"/>
          <p:cNvSpPr>
            <a:spLocks noGrp="1"/>
          </p:cNvSpPr>
          <p:nvPr/>
        </p:nvSpPr>
        <p:spPr>
          <a:xfrm>
            <a:off x="1117600" y="50292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App（联合演示）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m4-body"/>
          <p:cNvSpPr>
            <a:spLocks noGrp="1"/>
          </p:cNvSpPr>
          <p:nvPr/>
        </p:nvSpPr>
        <p:spPr>
          <a:xfrm>
            <a:off x="711200" y="54356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环境依赖、运行说明与演示入口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h1"/>
          <p:cNvSpPr>
            <a:spLocks noGrp="1"/>
          </p:cNvSpPr>
          <p:nvPr/>
        </p:nvSpPr>
        <p:spPr>
          <a:xfrm>
            <a:off x="6350000" y="1295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400" b="1">
                <a:solidFill>
                  <a:srgbClr val="005B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交付与复现</a:t>
            </a:r>
            <a:endParaRPr sz="1400" b="1">
              <a:solidFill>
                <a:srgbClr val="005B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ap"/>
          <p:cNvSpPr>
            <a:spLocks noGrp="1"/>
          </p:cNvSpPr>
          <p:nvPr/>
        </p:nvSpPr>
        <p:spPr>
          <a:xfrm>
            <a:off x="6350000" y="1625600"/>
            <a:ext cx="5410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4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每次正式实验保存config、summary、metrics、CSV、模型权重和图表；代表性结果归档到artifacts；验证结果附源码SHA-256指纹。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1-bg"/>
          <p:cNvSpPr>
            <a:spLocks noGrp="1"/>
          </p:cNvSpPr>
          <p:nvPr/>
        </p:nvSpPr>
        <p:spPr>
          <a:xfrm>
            <a:off x="6350000" y="4089400"/>
            <a:ext cx="17272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8" name="t1-t"/>
          <p:cNvSpPr>
            <a:spLocks noGrp="1"/>
          </p:cNvSpPr>
          <p:nvPr/>
        </p:nvSpPr>
        <p:spPr>
          <a:xfrm>
            <a:off x="6400800" y="4140200"/>
            <a:ext cx="1625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14项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HMI测试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2-bg"/>
          <p:cNvSpPr>
            <a:spLocks noGrp="1"/>
          </p:cNvSpPr>
          <p:nvPr/>
        </p:nvSpPr>
        <p:spPr>
          <a:xfrm>
            <a:off x="8204200" y="4089400"/>
            <a:ext cx="17272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0" name="t2-t"/>
          <p:cNvSpPr>
            <a:spLocks noGrp="1"/>
          </p:cNvSpPr>
          <p:nvPr/>
        </p:nvSpPr>
        <p:spPr>
          <a:xfrm>
            <a:off x="8255000" y="4140200"/>
            <a:ext cx="1625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4项</a:t>
            </a:r>
            <a:endParaRPr sz="2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DT物理测试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3-bg"/>
          <p:cNvSpPr>
            <a:spLocks noGrp="1"/>
          </p:cNvSpPr>
          <p:nvPr/>
        </p:nvSpPr>
        <p:spPr>
          <a:xfrm>
            <a:off x="10058400" y="4089400"/>
            <a:ext cx="17018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2" name="t3-t"/>
          <p:cNvSpPr>
            <a:spLocks noGrp="1"/>
          </p:cNvSpPr>
          <p:nvPr/>
        </p:nvSpPr>
        <p:spPr>
          <a:xfrm>
            <a:off x="10109200" y="4140200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7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</a:t>
            </a:r>
            <a:endParaRPr sz="17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FSL smoke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note-bg"/>
          <p:cNvSpPr>
            <a:spLocks noGrp="1"/>
          </p:cNvSpPr>
          <p:nvPr/>
        </p:nvSpPr>
        <p:spPr>
          <a:xfrm>
            <a:off x="6350000" y="5257800"/>
            <a:ext cx="54102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4" name="note"/>
          <p:cNvSpPr>
            <a:spLocks noGrp="1"/>
          </p:cNvSpPr>
          <p:nvPr/>
        </p:nvSpPr>
        <p:spPr>
          <a:xfrm>
            <a:off x="6553200" y="5346700"/>
            <a:ext cx="5029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发布目录默认排除Data、Excel、API密钥、大型权重和历史日志，降低敏感数据泄露风险。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8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0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31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三、HSE 风险辨识与控制措施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研发、数据和控制建议全过程设置安全边界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se1-bg"/>
          <p:cNvSpPr>
            <a:spLocks noGrp="1"/>
          </p:cNvSpPr>
          <p:nvPr/>
        </p:nvSpPr>
        <p:spPr>
          <a:xfrm>
            <a:off x="508000" y="1397000"/>
            <a:ext cx="36322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0" name="hse1-ic"/>
          <p:cNvSpPr>
            <a:spLocks noGrp="1"/>
          </p:cNvSpPr>
          <p:nvPr/>
        </p:nvSpPr>
        <p:spPr>
          <a:xfrm>
            <a:off x="685800" y="1562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52" y="264"/>
                </a:moveTo>
                <a:lnTo>
                  <a:pt x="352" y="64"/>
                </a:lnTo>
                <a:cubicBezTo>
                  <a:pt x="352" y="46"/>
                  <a:pt x="338" y="32"/>
                  <a:pt x="320" y="32"/>
                </a:cubicBezTo>
                <a:lnTo>
                  <a:pt x="256" y="32"/>
                </a:lnTo>
                <a:cubicBezTo>
                  <a:pt x="238" y="32"/>
                  <a:pt x="224" y="46"/>
                  <a:pt x="224" y="64"/>
                </a:cubicBezTo>
                <a:lnTo>
                  <a:pt x="224" y="264"/>
                </a:lnTo>
                <a:cubicBezTo>
                  <a:pt x="224" y="277"/>
                  <a:pt x="213" y="288"/>
                  <a:pt x="200" y="288"/>
                </a:cubicBezTo>
                <a:cubicBezTo>
                  <a:pt x="187" y="288"/>
                  <a:pt x="176" y="277"/>
                  <a:pt x="176" y="264"/>
                </a:cubicBezTo>
                <a:lnTo>
                  <a:pt x="176" y="78"/>
                </a:lnTo>
                <a:cubicBezTo>
                  <a:pt x="90" y="110"/>
                  <a:pt x="32" y="192"/>
                  <a:pt x="32" y="288"/>
                </a:cubicBezTo>
                <a:lnTo>
                  <a:pt x="32" y="352"/>
                </a:lnTo>
                <a:lnTo>
                  <a:pt x="544" y="352"/>
                </a:lnTo>
                <a:lnTo>
                  <a:pt x="544" y="288"/>
                </a:lnTo>
                <a:cubicBezTo>
                  <a:pt x="543" y="193"/>
                  <a:pt x="486" y="110"/>
                  <a:pt x="400" y="78"/>
                </a:cubicBezTo>
                <a:lnTo>
                  <a:pt x="400" y="264"/>
                </a:lnTo>
                <a:cubicBezTo>
                  <a:pt x="400" y="277"/>
                  <a:pt x="389" y="288"/>
                  <a:pt x="376" y="288"/>
                </a:cubicBezTo>
                <a:cubicBezTo>
                  <a:pt x="363" y="288"/>
                  <a:pt x="352" y="277"/>
                  <a:pt x="352" y="264"/>
                </a:cubicBezTo>
                <a:close/>
                <a:moveTo>
                  <a:pt x="40" y="400"/>
                </a:moveTo>
                <a:cubicBezTo>
                  <a:pt x="18" y="400"/>
                  <a:pt x="0" y="418"/>
                  <a:pt x="0" y="440"/>
                </a:cubicBezTo>
                <a:cubicBezTo>
                  <a:pt x="0" y="462"/>
                  <a:pt x="18" y="480"/>
                  <a:pt x="40" y="480"/>
                </a:cubicBezTo>
                <a:lnTo>
                  <a:pt x="536" y="480"/>
                </a:lnTo>
                <a:cubicBezTo>
                  <a:pt x="558" y="480"/>
                  <a:pt x="576" y="462"/>
                  <a:pt x="576" y="440"/>
                </a:cubicBezTo>
                <a:cubicBezTo>
                  <a:pt x="576" y="418"/>
                  <a:pt x="558" y="400"/>
                  <a:pt x="536" y="400"/>
                </a:cubicBezTo>
                <a:lnTo>
                  <a:pt x="40" y="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1" name="hse1-title"/>
          <p:cNvSpPr>
            <a:spLocks noGrp="1"/>
          </p:cNvSpPr>
          <p:nvPr/>
        </p:nvSpPr>
        <p:spPr>
          <a:xfrm>
            <a:off x="1117600" y="15494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研发与现场HSE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hse1-body"/>
          <p:cNvSpPr>
            <a:spLocks noGrp="1"/>
          </p:cNvSpPr>
          <p:nvPr/>
        </p:nvSpPr>
        <p:spPr>
          <a:xfrm>
            <a:off x="711200" y="1955800"/>
            <a:ext cx="3251200" cy="312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现场数据接入遵守甲方管理制度，不由软件直接操作设备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当前决策系统为建议模式，高风险动作必须人工确认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压力、排量、砂比、单步变化量和停泵规则设置硬边界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异常概率或模型不确定性过高时执行保持、降级或人工接管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hse2-bg"/>
          <p:cNvSpPr>
            <a:spLocks noGrp="1"/>
          </p:cNvSpPr>
          <p:nvPr/>
        </p:nvSpPr>
        <p:spPr>
          <a:xfrm>
            <a:off x="4292600" y="1397000"/>
            <a:ext cx="36322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4" name="hse2-ic"/>
          <p:cNvSpPr>
            <a:spLocks noGrp="1"/>
          </p:cNvSpPr>
          <p:nvPr/>
        </p:nvSpPr>
        <p:spPr>
          <a:xfrm>
            <a:off x="4470400" y="1562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5" name="hse2-title"/>
          <p:cNvSpPr>
            <a:spLocks noGrp="1"/>
          </p:cNvSpPr>
          <p:nvPr/>
        </p:nvSpPr>
        <p:spPr>
          <a:xfrm>
            <a:off x="4902200" y="15494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数据安全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hse2-body"/>
          <p:cNvSpPr>
            <a:spLocks noGrp="1"/>
          </p:cNvSpPr>
          <p:nvPr/>
        </p:nvSpPr>
        <p:spPr>
          <a:xfrm>
            <a:off x="4495800" y="1955800"/>
            <a:ext cx="3251200" cy="312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真实施工Excel、光纤和压力数据集中保存在Data目录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代码发布默认排除Data、Excel、模型权重、密钥和运行日志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数据manifest标记公开性，区分公开书籍资料与甲方保密数据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hse3-bg"/>
          <p:cNvSpPr>
            <a:spLocks noGrp="1"/>
          </p:cNvSpPr>
          <p:nvPr/>
        </p:nvSpPr>
        <p:spPr>
          <a:xfrm>
            <a:off x="8077200" y="1397000"/>
            <a:ext cx="36322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8" name="hse3-ic"/>
          <p:cNvSpPr>
            <a:spLocks noGrp="1"/>
          </p:cNvSpPr>
          <p:nvPr/>
        </p:nvSpPr>
        <p:spPr>
          <a:xfrm>
            <a:off x="8255000" y="1562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9" name="hse3-title"/>
          <p:cNvSpPr>
            <a:spLocks noGrp="1"/>
          </p:cNvSpPr>
          <p:nvPr/>
        </p:nvSpPr>
        <p:spPr>
          <a:xfrm>
            <a:off x="8686800" y="15494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模型安全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hse3-body"/>
          <p:cNvSpPr>
            <a:spLocks noGrp="1"/>
          </p:cNvSpPr>
          <p:nvPr/>
        </p:nvSpPr>
        <p:spPr>
          <a:xfrm>
            <a:off x="8280400" y="1955800"/>
            <a:ext cx="3251200" cy="312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超出历史动作范围输出OOD评分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EnKF更新参数设置物理上下界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180秒安全门禁检查压力、风险和动作约束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所有控制建议保留输入、输出、模型版本和源码指纹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note-bg"/>
          <p:cNvSpPr>
            <a:spLocks noGrp="1"/>
          </p:cNvSpPr>
          <p:nvPr/>
        </p:nvSpPr>
        <p:spPr>
          <a:xfrm>
            <a:off x="508000" y="5384800"/>
            <a:ext cx="11201400" cy="5842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22" name="note"/>
          <p:cNvSpPr>
            <a:spLocks noGrp="1"/>
          </p:cNvSpPr>
          <p:nvPr/>
        </p:nvSpPr>
        <p:spPr>
          <a:xfrm>
            <a:off x="711200" y="5473700"/>
            <a:ext cx="10820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20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事故情况：</a:t>
            </a:r>
            <a:r>
              <a:rPr sz="120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项目期间是否发生人员伤害、环保或数据安全事件，请由项目负责人最终确认后填写。</a:t>
            </a:r>
            <a:endParaRPr sz="120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38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0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41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四、项目可持续性或应用前景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（一）模块化架构支持新井、新区块和新监测数据持续接入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us0-bg"/>
          <p:cNvSpPr>
            <a:spLocks noGrp="1"/>
          </p:cNvSpPr>
          <p:nvPr/>
        </p:nvSpPr>
        <p:spPr>
          <a:xfrm>
            <a:off x="508000" y="1422400"/>
            <a:ext cx="3632200" cy="213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0" name="sus0-ic"/>
          <p:cNvSpPr>
            <a:spLocks noGrp="1"/>
          </p:cNvSpPr>
          <p:nvPr/>
        </p:nvSpPr>
        <p:spPr>
          <a:xfrm>
            <a:off x="6858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576" y="48"/>
                </a:moveTo>
                <a:cubicBezTo>
                  <a:pt x="576" y="37"/>
                  <a:pt x="570" y="27"/>
                  <a:pt x="561" y="21"/>
                </a:cubicBezTo>
                <a:cubicBezTo>
                  <a:pt x="551" y="15"/>
                  <a:pt x="540" y="14"/>
                  <a:pt x="530" y="19"/>
                </a:cubicBezTo>
                <a:lnTo>
                  <a:pt x="414" y="78"/>
                </a:lnTo>
                <a:lnTo>
                  <a:pt x="234" y="18"/>
                </a:lnTo>
                <a:cubicBezTo>
                  <a:pt x="226" y="15"/>
                  <a:pt x="217" y="16"/>
                  <a:pt x="210" y="19"/>
                </a:cubicBezTo>
                <a:lnTo>
                  <a:pt x="82" y="83"/>
                </a:lnTo>
                <a:cubicBezTo>
                  <a:pt x="71" y="89"/>
                  <a:pt x="64" y="100"/>
                  <a:pt x="64" y="112"/>
                </a:cubicBezTo>
                <a:lnTo>
                  <a:pt x="64" y="464"/>
                </a:lnTo>
                <a:cubicBezTo>
                  <a:pt x="64" y="475"/>
                  <a:pt x="70" y="485"/>
                  <a:pt x="79" y="491"/>
                </a:cubicBezTo>
                <a:cubicBezTo>
                  <a:pt x="89" y="497"/>
                  <a:pt x="100" y="498"/>
                  <a:pt x="110" y="493"/>
                </a:cubicBezTo>
                <a:lnTo>
                  <a:pt x="226" y="434"/>
                </a:lnTo>
                <a:lnTo>
                  <a:pt x="400" y="492"/>
                </a:lnTo>
                <a:cubicBezTo>
                  <a:pt x="395" y="486"/>
                  <a:pt x="391" y="479"/>
                  <a:pt x="387" y="472"/>
                </a:cubicBezTo>
                <a:cubicBezTo>
                  <a:pt x="376" y="454"/>
                  <a:pt x="365" y="433"/>
                  <a:pt x="357" y="411"/>
                </a:cubicBezTo>
                <a:lnTo>
                  <a:pt x="256" y="377"/>
                </a:lnTo>
                <a:lnTo>
                  <a:pt x="256" y="92"/>
                </a:lnTo>
                <a:lnTo>
                  <a:pt x="384" y="135"/>
                </a:lnTo>
                <a:lnTo>
                  <a:pt x="384" y="234"/>
                </a:lnTo>
                <a:cubicBezTo>
                  <a:pt x="415" y="199"/>
                  <a:pt x="461" y="176"/>
                  <a:pt x="512" y="176"/>
                </a:cubicBezTo>
                <a:cubicBezTo>
                  <a:pt x="535" y="176"/>
                  <a:pt x="556" y="180"/>
                  <a:pt x="576" y="188"/>
                </a:cubicBezTo>
                <a:lnTo>
                  <a:pt x="576" y="48"/>
                </a:lnTo>
                <a:close/>
              </a:path>
              <a:path w="640" h="512">
                <a:moveTo>
                  <a:pt x="512" y="224"/>
                </a:moveTo>
                <a:cubicBezTo>
                  <a:pt x="446" y="224"/>
                  <a:pt x="392" y="277"/>
                  <a:pt x="392" y="342"/>
                </a:cubicBezTo>
                <a:cubicBezTo>
                  <a:pt x="392" y="411"/>
                  <a:pt x="456" y="492"/>
                  <a:pt x="491" y="531"/>
                </a:cubicBezTo>
                <a:cubicBezTo>
                  <a:pt x="502" y="544"/>
                  <a:pt x="522" y="544"/>
                  <a:pt x="534" y="531"/>
                </a:cubicBezTo>
                <a:cubicBezTo>
                  <a:pt x="568" y="492"/>
                  <a:pt x="632" y="411"/>
                  <a:pt x="632" y="342"/>
                </a:cubicBezTo>
                <a:cubicBezTo>
                  <a:pt x="632" y="277"/>
                  <a:pt x="578" y="224"/>
                  <a:pt x="512" y="224"/>
                </a:cubicBezTo>
                <a:close/>
                <a:moveTo>
                  <a:pt x="472" y="344"/>
                </a:moveTo>
                <a:cubicBezTo>
                  <a:pt x="472" y="322"/>
                  <a:pt x="490" y="304"/>
                  <a:pt x="512" y="304"/>
                </a:cubicBezTo>
                <a:cubicBezTo>
                  <a:pt x="534" y="304"/>
                  <a:pt x="552" y="322"/>
                  <a:pt x="552" y="344"/>
                </a:cubicBezTo>
                <a:cubicBezTo>
                  <a:pt x="552" y="366"/>
                  <a:pt x="534" y="384"/>
                  <a:pt x="512" y="384"/>
                </a:cubicBezTo>
                <a:cubicBezTo>
                  <a:pt x="490" y="384"/>
                  <a:pt x="472" y="366"/>
                  <a:pt x="472" y="344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1" name="sus0-title"/>
          <p:cNvSpPr>
            <a:spLocks noGrp="1"/>
          </p:cNvSpPr>
          <p:nvPr/>
        </p:nvSpPr>
        <p:spPr>
          <a:xfrm>
            <a:off x="1117600" y="15748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新区块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us0-body"/>
          <p:cNvSpPr>
            <a:spLocks noGrp="1"/>
          </p:cNvSpPr>
          <p:nvPr/>
        </p:nvSpPr>
        <p:spPr>
          <a:xfrm>
            <a:off x="711200" y="1981200"/>
            <a:ext cx="32512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通过迁移学习支持少量样本快速微调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us1-bg"/>
          <p:cNvSpPr>
            <a:spLocks noGrp="1"/>
          </p:cNvSpPr>
          <p:nvPr/>
        </p:nvSpPr>
        <p:spPr>
          <a:xfrm>
            <a:off x="4292600" y="1422400"/>
            <a:ext cx="3632200" cy="213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4" name="sus1-ic"/>
          <p:cNvSpPr>
            <a:spLocks noGrp="1"/>
          </p:cNvSpPr>
          <p:nvPr/>
        </p:nvSpPr>
        <p:spPr>
          <a:xfrm>
            <a:off x="44704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512"/>
                </a:moveTo>
                <a:lnTo>
                  <a:pt x="96" y="512"/>
                </a:lnTo>
                <a:cubicBezTo>
                  <a:pt x="43" y="512"/>
                  <a:pt x="0" y="469"/>
                  <a:pt x="0" y="416"/>
                </a:cubicBezTo>
                <a:lnTo>
                  <a:pt x="0" y="96"/>
                </a:lnTo>
                <a:cubicBezTo>
                  <a:pt x="0" y="43"/>
                  <a:pt x="43" y="0"/>
                  <a:pt x="96" y="0"/>
                </a:cubicBezTo>
                <a:lnTo>
                  <a:pt x="400" y="0"/>
                </a:lnTo>
                <a:cubicBezTo>
                  <a:pt x="427" y="0"/>
                  <a:pt x="448" y="22"/>
                  <a:pt x="448" y="48"/>
                </a:cubicBezTo>
                <a:lnTo>
                  <a:pt x="448" y="336"/>
                </a:lnTo>
                <a:cubicBezTo>
                  <a:pt x="448" y="357"/>
                  <a:pt x="435" y="375"/>
                  <a:pt x="416" y="381"/>
                </a:cubicBezTo>
                <a:lnTo>
                  <a:pt x="416" y="448"/>
                </a:lnTo>
                <a:cubicBezTo>
                  <a:pt x="434" y="448"/>
                  <a:pt x="448" y="462"/>
                  <a:pt x="448" y="480"/>
                </a:cubicBezTo>
                <a:cubicBezTo>
                  <a:pt x="448" y="498"/>
                  <a:pt x="434" y="512"/>
                  <a:pt x="416" y="512"/>
                </a:cubicBezTo>
                <a:lnTo>
                  <a:pt x="384" y="512"/>
                </a:lnTo>
                <a:close/>
                <a:moveTo>
                  <a:pt x="96" y="384"/>
                </a:moveTo>
                <a:cubicBezTo>
                  <a:pt x="78" y="384"/>
                  <a:pt x="64" y="398"/>
                  <a:pt x="64" y="416"/>
                </a:cubicBezTo>
                <a:cubicBezTo>
                  <a:pt x="64" y="434"/>
                  <a:pt x="78" y="448"/>
                  <a:pt x="96" y="448"/>
                </a:cubicBezTo>
                <a:lnTo>
                  <a:pt x="352" y="448"/>
                </a:lnTo>
                <a:lnTo>
                  <a:pt x="352" y="384"/>
                </a:lnTo>
                <a:lnTo>
                  <a:pt x="96" y="384"/>
                </a:lnTo>
                <a:close/>
                <a:moveTo>
                  <a:pt x="128" y="152"/>
                </a:moveTo>
                <a:cubicBezTo>
                  <a:pt x="128" y="165"/>
                  <a:pt x="139" y="176"/>
                  <a:pt x="152" y="176"/>
                </a:cubicBezTo>
                <a:lnTo>
                  <a:pt x="328" y="176"/>
                </a:lnTo>
                <a:cubicBezTo>
                  <a:pt x="341" y="176"/>
                  <a:pt x="352" y="165"/>
                  <a:pt x="352" y="152"/>
                </a:cubicBezTo>
                <a:cubicBezTo>
                  <a:pt x="352" y="139"/>
                  <a:pt x="341" y="128"/>
                  <a:pt x="328" y="128"/>
                </a:cubicBezTo>
                <a:lnTo>
                  <a:pt x="152" y="128"/>
                </a:lnTo>
                <a:cubicBezTo>
                  <a:pt x="139" y="128"/>
                  <a:pt x="128" y="139"/>
                  <a:pt x="128" y="152"/>
                </a:cubicBezTo>
                <a:close/>
                <a:moveTo>
                  <a:pt x="152" y="224"/>
                </a:moveTo>
                <a:cubicBezTo>
                  <a:pt x="139" y="224"/>
                  <a:pt x="128" y="235"/>
                  <a:pt x="128" y="248"/>
                </a:cubicBezTo>
                <a:cubicBezTo>
                  <a:pt x="128" y="261"/>
                  <a:pt x="139" y="272"/>
                  <a:pt x="152" y="272"/>
                </a:cubicBezTo>
                <a:lnTo>
                  <a:pt x="328" y="272"/>
                </a:lnTo>
                <a:cubicBezTo>
                  <a:pt x="341" y="272"/>
                  <a:pt x="352" y="261"/>
                  <a:pt x="352" y="248"/>
                </a:cubicBezTo>
                <a:cubicBezTo>
                  <a:pt x="352" y="235"/>
                  <a:pt x="341" y="224"/>
                  <a:pt x="328" y="224"/>
                </a:cubicBezTo>
                <a:lnTo>
                  <a:pt x="152" y="22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5" name="sus1-title"/>
          <p:cNvSpPr>
            <a:spLocks noGrp="1"/>
          </p:cNvSpPr>
          <p:nvPr/>
        </p:nvSpPr>
        <p:spPr>
          <a:xfrm>
            <a:off x="4902200" y="15748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新知识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us1-body"/>
          <p:cNvSpPr>
            <a:spLocks noGrp="1"/>
          </p:cNvSpPr>
          <p:nvPr/>
        </p:nvSpPr>
        <p:spPr>
          <a:xfrm>
            <a:off x="4495800" y="1981200"/>
            <a:ext cx="32512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全书图谱可继续接入标准、案例和专家规则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us2-bg"/>
          <p:cNvSpPr>
            <a:spLocks noGrp="1"/>
          </p:cNvSpPr>
          <p:nvPr/>
        </p:nvSpPr>
        <p:spPr>
          <a:xfrm>
            <a:off x="8077200" y="1422400"/>
            <a:ext cx="3632200" cy="213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8" name="sus2-ic"/>
          <p:cNvSpPr>
            <a:spLocks noGrp="1"/>
          </p:cNvSpPr>
          <p:nvPr/>
        </p:nvSpPr>
        <p:spPr>
          <a:xfrm>
            <a:off x="82550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-32"/>
                </a:moveTo>
                <a:cubicBezTo>
                  <a:pt x="146" y="-32"/>
                  <a:pt x="160" y="-18"/>
                  <a:pt x="160" y="0"/>
                </a:cubicBezTo>
                <a:lnTo>
                  <a:pt x="160" y="96"/>
                </a:lnTo>
                <a:lnTo>
                  <a:pt x="288" y="96"/>
                </a:lnTo>
                <a:lnTo>
                  <a:pt x="288" y="0"/>
                </a:lnTo>
                <a:cubicBezTo>
                  <a:pt x="288" y="-18"/>
                  <a:pt x="302" y="-32"/>
                  <a:pt x="320" y="-32"/>
                </a:cubicBezTo>
                <a:cubicBezTo>
                  <a:pt x="338" y="-32"/>
                  <a:pt x="352" y="-18"/>
                  <a:pt x="352" y="0"/>
                </a:cubicBezTo>
                <a:lnTo>
                  <a:pt x="352" y="96"/>
                </a:ln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cubicBezTo>
                  <a:pt x="448" y="146"/>
                  <a:pt x="434" y="160"/>
                  <a:pt x="416" y="160"/>
                </a:cubicBezTo>
                <a:lnTo>
                  <a:pt x="416" y="224"/>
                </a:lnTo>
                <a:cubicBezTo>
                  <a:pt x="416" y="319"/>
                  <a:pt x="347" y="398"/>
                  <a:pt x="256" y="413"/>
                </a:cubicBezTo>
                <a:lnTo>
                  <a:pt x="256" y="480"/>
                </a:lnTo>
                <a:cubicBezTo>
                  <a:pt x="256" y="498"/>
                  <a:pt x="242" y="512"/>
                  <a:pt x="224" y="512"/>
                </a:cubicBezTo>
                <a:cubicBezTo>
                  <a:pt x="206" y="512"/>
                  <a:pt x="192" y="498"/>
                  <a:pt x="192" y="480"/>
                </a:cubicBezTo>
                <a:lnTo>
                  <a:pt x="192" y="413"/>
                </a:lnTo>
                <a:cubicBezTo>
                  <a:pt x="101" y="398"/>
                  <a:pt x="32" y="319"/>
                  <a:pt x="32" y="224"/>
                </a:cubicBez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96" y="96"/>
                </a:lnTo>
                <a:lnTo>
                  <a:pt x="96" y="0"/>
                </a:lnTo>
                <a:cubicBezTo>
                  <a:pt x="96" y="-18"/>
                  <a:pt x="110" y="-32"/>
                  <a:pt x="128" y="-32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9" name="sus2-title"/>
          <p:cNvSpPr>
            <a:spLocks noGrp="1"/>
          </p:cNvSpPr>
          <p:nvPr/>
        </p:nvSpPr>
        <p:spPr>
          <a:xfrm>
            <a:off x="8686800" y="15748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新数据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us2-body"/>
          <p:cNvSpPr>
            <a:spLocks noGrp="1"/>
          </p:cNvSpPr>
          <p:nvPr/>
        </p:nvSpPr>
        <p:spPr>
          <a:xfrm>
            <a:off x="8280400" y="1981200"/>
            <a:ext cx="32512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光纤API、压力、井轨迹采用适配器模式，不改变主流程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us3-bg"/>
          <p:cNvSpPr>
            <a:spLocks noGrp="1"/>
          </p:cNvSpPr>
          <p:nvPr/>
        </p:nvSpPr>
        <p:spPr>
          <a:xfrm>
            <a:off x="508000" y="3708400"/>
            <a:ext cx="3632200" cy="213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2" name="sus3-ic"/>
          <p:cNvSpPr>
            <a:spLocks noGrp="1"/>
          </p:cNvSpPr>
          <p:nvPr/>
        </p:nvSpPr>
        <p:spPr>
          <a:xfrm>
            <a:off x="685800" y="387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-2"/>
                </a:moveTo>
                <a:cubicBezTo>
                  <a:pt x="244" y="-14"/>
                  <a:pt x="269" y="-14"/>
                  <a:pt x="288" y="-2"/>
                </a:cubicBezTo>
                <a:lnTo>
                  <a:pt x="464" y="99"/>
                </a:lnTo>
                <a:cubicBezTo>
                  <a:pt x="484" y="110"/>
                  <a:pt x="496" y="132"/>
                  <a:pt x="496" y="154"/>
                </a:cubicBezTo>
                <a:lnTo>
                  <a:pt x="496" y="357"/>
                </a:lnTo>
                <a:cubicBezTo>
                  <a:pt x="496" y="380"/>
                  <a:pt x="484" y="401"/>
                  <a:pt x="464" y="413"/>
                </a:cubicBezTo>
                <a:lnTo>
                  <a:pt x="288" y="515"/>
                </a:lnTo>
                <a:cubicBezTo>
                  <a:pt x="269" y="526"/>
                  <a:pt x="244" y="526"/>
                  <a:pt x="224" y="515"/>
                </a:cubicBezTo>
                <a:lnTo>
                  <a:pt x="49" y="413"/>
                </a:lnTo>
                <a:cubicBezTo>
                  <a:pt x="29" y="402"/>
                  <a:pt x="17" y="380"/>
                  <a:pt x="17" y="358"/>
                </a:cubicBezTo>
                <a:lnTo>
                  <a:pt x="17" y="155"/>
                </a:lnTo>
                <a:cubicBezTo>
                  <a:pt x="17" y="132"/>
                  <a:pt x="29" y="111"/>
                  <a:pt x="49" y="99"/>
                </a:cubicBezTo>
                <a:lnTo>
                  <a:pt x="224" y="-2"/>
                </a:lnTo>
                <a:close/>
                <a:moveTo>
                  <a:pt x="432" y="358"/>
                </a:moveTo>
                <a:lnTo>
                  <a:pt x="432" y="191"/>
                </a:lnTo>
                <a:lnTo>
                  <a:pt x="288" y="274"/>
                </a:lnTo>
                <a:lnTo>
                  <a:pt x="288" y="441"/>
                </a:lnTo>
                <a:lnTo>
                  <a:pt x="432" y="35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23" name="sus3-title"/>
          <p:cNvSpPr>
            <a:spLocks noGrp="1"/>
          </p:cNvSpPr>
          <p:nvPr/>
        </p:nvSpPr>
        <p:spPr>
          <a:xfrm>
            <a:off x="1117600" y="38608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新正演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us3-body"/>
          <p:cNvSpPr>
            <a:spLocks noGrp="1"/>
          </p:cNvSpPr>
          <p:nvPr/>
        </p:nvSpPr>
        <p:spPr>
          <a:xfrm>
            <a:off x="711200" y="4267200"/>
            <a:ext cx="32512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PKN、BEM和数据代理共用接口，可引入更高保真求解器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us4-bg"/>
          <p:cNvSpPr>
            <a:spLocks noGrp="1"/>
          </p:cNvSpPr>
          <p:nvPr/>
        </p:nvSpPr>
        <p:spPr>
          <a:xfrm>
            <a:off x="4292600" y="3708400"/>
            <a:ext cx="3632200" cy="213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6" name="sus4-ic"/>
          <p:cNvSpPr>
            <a:spLocks noGrp="1"/>
          </p:cNvSpPr>
          <p:nvPr/>
        </p:nvSpPr>
        <p:spPr>
          <a:xfrm>
            <a:off x="4470400" y="387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8" y="12"/>
                </a:moveTo>
                <a:cubicBezTo>
                  <a:pt x="77" y="5"/>
                  <a:pt x="62" y="8"/>
                  <a:pt x="55" y="20"/>
                </a:cubicBezTo>
                <a:cubicBezTo>
                  <a:pt x="30" y="61"/>
                  <a:pt x="16" y="109"/>
                  <a:pt x="16" y="160"/>
                </a:cubicBezTo>
                <a:cubicBezTo>
                  <a:pt x="16" y="211"/>
                  <a:pt x="30" y="259"/>
                  <a:pt x="55" y="300"/>
                </a:cubicBezTo>
                <a:cubicBezTo>
                  <a:pt x="62" y="312"/>
                  <a:pt x="77" y="315"/>
                  <a:pt x="88" y="309"/>
                </a:cubicBezTo>
                <a:cubicBezTo>
                  <a:pt x="99" y="302"/>
                  <a:pt x="103" y="287"/>
                  <a:pt x="96" y="276"/>
                </a:cubicBezTo>
                <a:cubicBezTo>
                  <a:pt x="76" y="242"/>
                  <a:pt x="64" y="202"/>
                  <a:pt x="64" y="160"/>
                </a:cubicBezTo>
                <a:cubicBezTo>
                  <a:pt x="64" y="118"/>
                  <a:pt x="76" y="78"/>
                  <a:pt x="96" y="44"/>
                </a:cubicBezTo>
                <a:cubicBezTo>
                  <a:pt x="103" y="33"/>
                  <a:pt x="99" y="18"/>
                  <a:pt x="88" y="11"/>
                </a:cubicBezTo>
                <a:close/>
              </a:path>
              <a:path w="576" h="512">
                <a:moveTo>
                  <a:pt x="488" y="12"/>
                </a:moveTo>
                <a:cubicBezTo>
                  <a:pt x="477" y="18"/>
                  <a:pt x="473" y="33"/>
                  <a:pt x="480" y="45"/>
                </a:cubicBezTo>
                <a:cubicBezTo>
                  <a:pt x="500" y="78"/>
                  <a:pt x="512" y="118"/>
                  <a:pt x="512" y="160"/>
                </a:cubicBezTo>
                <a:cubicBezTo>
                  <a:pt x="512" y="202"/>
                  <a:pt x="500" y="242"/>
                  <a:pt x="480" y="276"/>
                </a:cubicBezTo>
                <a:cubicBezTo>
                  <a:pt x="473" y="287"/>
                  <a:pt x="477" y="302"/>
                  <a:pt x="488" y="309"/>
                </a:cubicBezTo>
                <a:cubicBezTo>
                  <a:pt x="499" y="316"/>
                  <a:pt x="514" y="312"/>
                  <a:pt x="521" y="301"/>
                </a:cubicBezTo>
                <a:cubicBezTo>
                  <a:pt x="546" y="260"/>
                  <a:pt x="560" y="211"/>
                  <a:pt x="560" y="160"/>
                </a:cubicBezTo>
                <a:cubicBezTo>
                  <a:pt x="560" y="109"/>
                  <a:pt x="546" y="61"/>
                  <a:pt x="521" y="20"/>
                </a:cubicBezTo>
                <a:cubicBezTo>
                  <a:pt x="514" y="8"/>
                  <a:pt x="499" y="5"/>
                  <a:pt x="488" y="12"/>
                </a:cubicBezTo>
                <a:close/>
              </a:path>
              <a:path w="576" h="512">
                <a:moveTo>
                  <a:pt x="320" y="215"/>
                </a:moveTo>
                <a:cubicBezTo>
                  <a:pt x="339" y="204"/>
                  <a:pt x="352" y="184"/>
                  <a:pt x="352" y="160"/>
                </a:cubicBezTo>
                <a:cubicBezTo>
                  <a:pt x="352" y="125"/>
                  <a:pt x="323" y="96"/>
                  <a:pt x="288" y="96"/>
                </a:cubicBezTo>
                <a:cubicBezTo>
                  <a:pt x="253" y="96"/>
                  <a:pt x="224" y="125"/>
                  <a:pt x="224" y="160"/>
                </a:cubicBezTo>
                <a:cubicBezTo>
                  <a:pt x="224" y="184"/>
                  <a:pt x="237" y="204"/>
                  <a:pt x="256" y="215"/>
                </a:cubicBezTo>
                <a:lnTo>
                  <a:pt x="256" y="480"/>
                </a:lnTo>
                <a:cubicBezTo>
                  <a:pt x="256" y="498"/>
                  <a:pt x="270" y="512"/>
                  <a:pt x="288" y="512"/>
                </a:cubicBezTo>
                <a:cubicBezTo>
                  <a:pt x="306" y="512"/>
                  <a:pt x="320" y="498"/>
                  <a:pt x="320" y="480"/>
                </a:cubicBezTo>
                <a:lnTo>
                  <a:pt x="320" y="215"/>
                </a:lnTo>
                <a:close/>
              </a:path>
              <a:path w="576" h="512">
                <a:moveTo>
                  <a:pt x="180" y="91"/>
                </a:moveTo>
                <a:cubicBezTo>
                  <a:pt x="187" y="80"/>
                  <a:pt x="184" y="65"/>
                  <a:pt x="173" y="58"/>
                </a:cubicBezTo>
                <a:cubicBezTo>
                  <a:pt x="162" y="51"/>
                  <a:pt x="147" y="54"/>
                  <a:pt x="140" y="65"/>
                </a:cubicBezTo>
                <a:cubicBezTo>
                  <a:pt x="122" y="92"/>
                  <a:pt x="112" y="125"/>
                  <a:pt x="112" y="160"/>
                </a:cubicBezTo>
                <a:cubicBezTo>
                  <a:pt x="112" y="195"/>
                  <a:pt x="122" y="228"/>
                  <a:pt x="140" y="255"/>
                </a:cubicBezTo>
                <a:cubicBezTo>
                  <a:pt x="147" y="266"/>
                  <a:pt x="162" y="269"/>
                  <a:pt x="173" y="262"/>
                </a:cubicBezTo>
                <a:cubicBezTo>
                  <a:pt x="184" y="255"/>
                  <a:pt x="187" y="240"/>
                  <a:pt x="180" y="229"/>
                </a:cubicBezTo>
                <a:cubicBezTo>
                  <a:pt x="167" y="209"/>
                  <a:pt x="160" y="185"/>
                  <a:pt x="160" y="160"/>
                </a:cubicBezTo>
                <a:cubicBezTo>
                  <a:pt x="160" y="135"/>
                  <a:pt x="167" y="111"/>
                  <a:pt x="180" y="91"/>
                </a:cubicBezTo>
                <a:close/>
              </a:path>
              <a:path w="576" h="512">
                <a:moveTo>
                  <a:pt x="436" y="65"/>
                </a:moveTo>
                <a:cubicBezTo>
                  <a:pt x="429" y="54"/>
                  <a:pt x="414" y="51"/>
                  <a:pt x="403" y="58"/>
                </a:cubicBezTo>
                <a:cubicBezTo>
                  <a:pt x="392" y="65"/>
                  <a:pt x="389" y="80"/>
                  <a:pt x="396" y="91"/>
                </a:cubicBezTo>
                <a:cubicBezTo>
                  <a:pt x="409" y="111"/>
                  <a:pt x="416" y="135"/>
                  <a:pt x="416" y="160"/>
                </a:cubicBezTo>
                <a:cubicBezTo>
                  <a:pt x="416" y="185"/>
                  <a:pt x="409" y="209"/>
                  <a:pt x="396" y="229"/>
                </a:cubicBezTo>
                <a:cubicBezTo>
                  <a:pt x="389" y="240"/>
                  <a:pt x="392" y="255"/>
                  <a:pt x="403" y="262"/>
                </a:cubicBezTo>
                <a:cubicBezTo>
                  <a:pt x="414" y="269"/>
                  <a:pt x="429" y="266"/>
                  <a:pt x="436" y="255"/>
                </a:cubicBezTo>
                <a:cubicBezTo>
                  <a:pt x="454" y="228"/>
                  <a:pt x="464" y="195"/>
                  <a:pt x="464" y="160"/>
                </a:cubicBezTo>
                <a:cubicBezTo>
                  <a:pt x="464" y="125"/>
                  <a:pt x="454" y="92"/>
                  <a:pt x="436" y="65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27" name="sus4-title"/>
          <p:cNvSpPr>
            <a:spLocks noGrp="1"/>
          </p:cNvSpPr>
          <p:nvPr/>
        </p:nvSpPr>
        <p:spPr>
          <a:xfrm>
            <a:off x="4902200" y="38608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新观测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us4-body"/>
          <p:cNvSpPr>
            <a:spLocks noGrp="1"/>
          </p:cNvSpPr>
          <p:nvPr/>
        </p:nvSpPr>
        <p:spPr>
          <a:xfrm>
            <a:off x="4495800" y="4267200"/>
            <a:ext cx="32512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获得真实DAS振幅、射孔簇测深和裂缝解释结果后可替换观测算子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us5-bg"/>
          <p:cNvSpPr>
            <a:spLocks noGrp="1"/>
          </p:cNvSpPr>
          <p:nvPr/>
        </p:nvSpPr>
        <p:spPr>
          <a:xfrm>
            <a:off x="8077200" y="3708400"/>
            <a:ext cx="3632200" cy="213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0" name="sus5-ic"/>
          <p:cNvSpPr>
            <a:spLocks noGrp="1"/>
          </p:cNvSpPr>
          <p:nvPr/>
        </p:nvSpPr>
        <p:spPr>
          <a:xfrm>
            <a:off x="8255000" y="387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31" name="sus5-title"/>
          <p:cNvSpPr>
            <a:spLocks noGrp="1"/>
          </p:cNvSpPr>
          <p:nvPr/>
        </p:nvSpPr>
        <p:spPr>
          <a:xfrm>
            <a:off x="8686800" y="3860800"/>
            <a:ext cx="2895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新策略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us5-body"/>
          <p:cNvSpPr>
            <a:spLocks noGrp="1"/>
          </p:cNvSpPr>
          <p:nvPr/>
        </p:nvSpPr>
        <p:spPr>
          <a:xfrm>
            <a:off x="8280400" y="4267200"/>
            <a:ext cx="32512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Gymnasium接口可继续使用PPO/SAC，并评估完整HRL/RLlib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6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8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9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四、项目可持续性或应用前景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（二）成果可形成“监测—反演—预警—建议”的现场辅助决策系统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near-bg"/>
          <p:cNvSpPr>
            <a:spLocks noGrp="1"/>
          </p:cNvSpPr>
          <p:nvPr/>
        </p:nvSpPr>
        <p:spPr>
          <a:xfrm>
            <a:off x="508000" y="1397000"/>
            <a:ext cx="5588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0" name="near-ic"/>
          <p:cNvSpPr>
            <a:spLocks noGrp="1"/>
          </p:cNvSpPr>
          <p:nvPr/>
        </p:nvSpPr>
        <p:spPr>
          <a:xfrm>
            <a:off x="685800" y="1562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0"/>
                </a:moveTo>
                <a:cubicBezTo>
                  <a:pt x="146" y="0"/>
                  <a:pt x="160" y="14"/>
                  <a:pt x="160" y="32"/>
                </a:cubicBezTo>
                <a:lnTo>
                  <a:pt x="160" y="64"/>
                </a:lnTo>
                <a:lnTo>
                  <a:pt x="288" y="64"/>
                </a:lnTo>
                <a:lnTo>
                  <a:pt x="288" y="32"/>
                </a:lnTo>
                <a:cubicBezTo>
                  <a:pt x="288" y="14"/>
                  <a:pt x="302" y="0"/>
                  <a:pt x="320" y="0"/>
                </a:cubicBezTo>
                <a:cubicBezTo>
                  <a:pt x="338" y="0"/>
                  <a:pt x="352" y="14"/>
                  <a:pt x="352" y="32"/>
                </a:cubicBezTo>
                <a:lnTo>
                  <a:pt x="352" y="64"/>
                </a:lnTo>
                <a:lnTo>
                  <a:pt x="384" y="64"/>
                </a:lnTo>
                <a:cubicBezTo>
                  <a:pt x="419" y="64"/>
                  <a:pt x="448" y="93"/>
                  <a:pt x="448" y="128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96" y="64"/>
                </a:lnTo>
                <a:lnTo>
                  <a:pt x="96" y="32"/>
                </a:lnTo>
                <a:cubicBezTo>
                  <a:pt x="96" y="14"/>
                  <a:pt x="110" y="0"/>
                  <a:pt x="128" y="0"/>
                </a:cubicBezTo>
                <a:close/>
                <a:moveTo>
                  <a:pt x="308" y="229"/>
                </a:moveTo>
                <a:cubicBezTo>
                  <a:pt x="315" y="218"/>
                  <a:pt x="312" y="203"/>
                  <a:pt x="301" y="196"/>
                </a:cubicBezTo>
                <a:cubicBezTo>
                  <a:pt x="290" y="189"/>
                  <a:pt x="275" y="192"/>
                  <a:pt x="268" y="203"/>
                </a:cubicBezTo>
                <a:lnTo>
                  <a:pt x="206" y="302"/>
                </a:lnTo>
                <a:lnTo>
                  <a:pt x="179" y="266"/>
                </a:lnTo>
                <a:cubicBezTo>
                  <a:pt x="171" y="255"/>
                  <a:pt x="156" y="253"/>
                  <a:pt x="146" y="261"/>
                </a:cubicBezTo>
                <a:cubicBezTo>
                  <a:pt x="135" y="269"/>
                  <a:pt x="133" y="284"/>
                  <a:pt x="141" y="294"/>
                </a:cubicBezTo>
                <a:lnTo>
                  <a:pt x="189" y="358"/>
                </a:lnTo>
                <a:cubicBezTo>
                  <a:pt x="194" y="365"/>
                  <a:pt x="201" y="368"/>
                  <a:pt x="209" y="368"/>
                </a:cubicBezTo>
                <a:cubicBezTo>
                  <a:pt x="217" y="368"/>
                  <a:pt x="224" y="363"/>
                  <a:pt x="228" y="357"/>
                </a:cubicBezTo>
                <a:lnTo>
                  <a:pt x="308" y="22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1" name="near-title"/>
          <p:cNvSpPr>
            <a:spLocks noGrp="1"/>
          </p:cNvSpPr>
          <p:nvPr/>
        </p:nvSpPr>
        <p:spPr>
          <a:xfrm>
            <a:off x="1117600" y="1549400"/>
            <a:ext cx="4851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近期应用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near-body"/>
          <p:cNvSpPr>
            <a:spLocks noGrp="1"/>
          </p:cNvSpPr>
          <p:nvPr/>
        </p:nvSpPr>
        <p:spPr>
          <a:xfrm>
            <a:off x="711200" y="1955800"/>
            <a:ext cx="5207000" cy="210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压裂案例知识查询和异常原因辅助分析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施工工况在线识别、异常概率和状态转移提示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光纤分簇液砂监测与裂缝扩展数字孪生展示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正演参数在线校正和15%观测误差监控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未来60秒排量/砂比方案比选与人工确认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far-bg"/>
          <p:cNvSpPr>
            <a:spLocks noGrp="1"/>
          </p:cNvSpPr>
          <p:nvPr/>
        </p:nvSpPr>
        <p:spPr>
          <a:xfrm>
            <a:off x="6350000" y="1397000"/>
            <a:ext cx="54102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4" name="far-ic"/>
          <p:cNvSpPr>
            <a:spLocks noGrp="1"/>
          </p:cNvSpPr>
          <p:nvPr/>
        </p:nvSpPr>
        <p:spPr>
          <a:xfrm>
            <a:off x="6527800" y="1562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60"/>
                </a:moveTo>
                <a:cubicBezTo>
                  <a:pt x="366" y="160"/>
                  <a:pt x="352" y="146"/>
                  <a:pt x="352" y="128"/>
                </a:cubicBezTo>
                <a:cubicBezTo>
                  <a:pt x="352" y="110"/>
                  <a:pt x="366" y="96"/>
                  <a:pt x="384" y="96"/>
                </a:cubicBezTo>
                <a:lnTo>
                  <a:pt x="544" y="96"/>
                </a:lnTo>
                <a:cubicBezTo>
                  <a:pt x="562" y="96"/>
                  <a:pt x="576" y="110"/>
                  <a:pt x="576" y="128"/>
                </a:cubicBezTo>
                <a:lnTo>
                  <a:pt x="576" y="288"/>
                </a:lnTo>
                <a:cubicBezTo>
                  <a:pt x="576" y="306"/>
                  <a:pt x="562" y="320"/>
                  <a:pt x="544" y="320"/>
                </a:cubicBezTo>
                <a:cubicBezTo>
                  <a:pt x="526" y="320"/>
                  <a:pt x="512" y="306"/>
                  <a:pt x="512" y="288"/>
                </a:cubicBezTo>
                <a:lnTo>
                  <a:pt x="512" y="205"/>
                </a:lnTo>
                <a:lnTo>
                  <a:pt x="343" y="375"/>
                </a:lnTo>
                <a:cubicBezTo>
                  <a:pt x="330" y="387"/>
                  <a:pt x="310" y="387"/>
                  <a:pt x="297" y="375"/>
                </a:cubicBezTo>
                <a:lnTo>
                  <a:pt x="192" y="269"/>
                </a:lnTo>
                <a:lnTo>
                  <a:pt x="55" y="407"/>
                </a:lnTo>
                <a:cubicBezTo>
                  <a:pt x="42" y="419"/>
                  <a:pt x="22" y="419"/>
                  <a:pt x="9" y="407"/>
                </a:cubicBezTo>
                <a:cubicBezTo>
                  <a:pt x="-3" y="394"/>
                  <a:pt x="-3" y="374"/>
                  <a:pt x="9" y="361"/>
                </a:cubicBezTo>
                <a:lnTo>
                  <a:pt x="169" y="201"/>
                </a:lnTo>
                <a:cubicBezTo>
                  <a:pt x="182" y="189"/>
                  <a:pt x="202" y="189"/>
                  <a:pt x="215" y="201"/>
                </a:cubicBezTo>
                <a:lnTo>
                  <a:pt x="320" y="307"/>
                </a:lnTo>
                <a:lnTo>
                  <a:pt x="467" y="160"/>
                </a:lnTo>
                <a:lnTo>
                  <a:pt x="384" y="16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5" name="far-title"/>
          <p:cNvSpPr>
            <a:spLocks noGrp="1"/>
          </p:cNvSpPr>
          <p:nvPr/>
        </p:nvSpPr>
        <p:spPr>
          <a:xfrm>
            <a:off x="6959600" y="1549400"/>
            <a:ext cx="4673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中长期应用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far-body"/>
          <p:cNvSpPr>
            <a:spLocks noGrp="1"/>
          </p:cNvSpPr>
          <p:nvPr/>
        </p:nvSpPr>
        <p:spPr>
          <a:xfrm>
            <a:off x="6553200" y="1955800"/>
            <a:ext cx="5029200" cy="210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接入现场实时数据库与光纤原始振幅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建立跨井、跨区块参数库和迁移模型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从建议模式逐步升级到协同模式，充分验证后研究受限闭环控制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支撑压裂施工降险、均衡改造和参数优化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app"/>
          <p:cNvPicPr>
            <a:picLocks noChangeAspect="1"/>
          </p:cNvPicPr>
          <p:nvPr/>
        </p:nvPicPr>
        <p:blipFill>
          <a:blip r:embed="rId5"/>
          <a:srcRect t="30642" b="30642"/>
          <a:stretch>
            <a:fillRect/>
          </a:stretch>
        </p:blipFill>
        <p:spPr>
          <a:xfrm>
            <a:off x="3175000" y="4343400"/>
            <a:ext cx="5842000" cy="1625600"/>
          </a:xfrm>
          <a:prstGeom prst="rect">
            <a:avLst/>
          </a:prstGeom>
          <a:ln>
            <a:noFill/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pic>
      <p:sp>
        <p:nvSpPr>
          <p:cNvPr id="18" name="app-border"/>
          <p:cNvSpPr>
            <a:spLocks noGrp="1"/>
          </p:cNvSpPr>
          <p:nvPr/>
        </p:nvSpPr>
        <p:spPr>
          <a:xfrm>
            <a:off x="3175000" y="4343400"/>
            <a:ext cx="5842000" cy="16256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9" name="appcap"/>
          <p:cNvSpPr>
            <a:spLocks noGrp="1"/>
          </p:cNvSpPr>
          <p:nvPr/>
        </p:nvSpPr>
        <p:spPr>
          <a:xfrm>
            <a:off x="3175000" y="60198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裂缝扩展动态感知与风险预警现场应用示意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18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0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1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五、组织管理及经费使用情况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（一）组织管理：按数据、算法、物理模型、智能体和软件集成分工协同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4" name="tbl"/>
          <p:cNvGraphicFramePr/>
          <p:nvPr/>
        </p:nvGraphicFramePr>
        <p:xfrm>
          <a:off x="762000" y="1422400"/>
          <a:ext cx="10668000" cy="3810000"/>
        </p:xfrm>
        <a:graphic>
          <a:graphicData uri="http://schemas.openxmlformats.org/drawingml/2006/table">
            <a:tbl>
              <a:tblPr/>
              <a:tblGrid>
                <a:gridCol w="2773680"/>
                <a:gridCol w="5334000"/>
                <a:gridCol w="2560320"/>
              </a:tblGrid>
              <a:tr h="53340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职责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工作内容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人员安排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项目负责人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总体技术路线、甲方协调、验收组织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专业负责人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压裂机理、参数口径、专家规则审核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数据与知识负责人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数据清洗、知识图谱、数据库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算法负责人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GNN、迁移学习、EnKF、强化学习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软件与测试负责人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API、App、可视化、测试与交付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pm-bg"/>
          <p:cNvSpPr>
            <a:spLocks noGrp="1"/>
          </p:cNvSpPr>
          <p:nvPr/>
        </p:nvSpPr>
        <p:spPr>
          <a:xfrm>
            <a:off x="762000" y="5435600"/>
            <a:ext cx="10668000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1" name="pm"/>
          <p:cNvSpPr>
            <a:spLocks noGrp="1"/>
          </p:cNvSpPr>
          <p:nvPr/>
        </p:nvSpPr>
        <p:spPr>
          <a:xfrm>
            <a:off x="965200" y="5511800"/>
            <a:ext cx="1028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2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过程管理：</a:t>
            </a: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周例会、技术审查、版本备份、指标快照、问题清单和甲方专业复核。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18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0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21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五、组织管理及经费使用情况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（二）经费使用情况：经费按合同科目规范执行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unit"/>
          <p:cNvSpPr>
            <a:spLocks noGrp="1"/>
          </p:cNvSpPr>
          <p:nvPr/>
        </p:nvSpPr>
        <p:spPr>
          <a:xfrm>
            <a:off x="8890000" y="1270000"/>
            <a:ext cx="292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金额单位：万元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5" name="tbl"/>
          <p:cNvGraphicFramePr/>
          <p:nvPr/>
        </p:nvGraphicFramePr>
        <p:xfrm>
          <a:off x="2286000" y="1574800"/>
          <a:ext cx="7620000" cy="4191000"/>
        </p:xfrm>
        <a:graphic>
          <a:graphicData uri="http://schemas.openxmlformats.org/drawingml/2006/table">
            <a:tbl>
              <a:tblPr/>
              <a:tblGrid>
                <a:gridCol w="3810000"/>
                <a:gridCol w="1219200"/>
                <a:gridCol w="2590800"/>
              </a:tblGrid>
              <a:tr h="465201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科目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行次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实际支出费用</a:t>
                      </a:r>
                      <a:endParaRPr sz="130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solidFill>
                      <a:srgbClr val="D1EAEC"/>
                    </a:solidFill>
                  </a:tcPr>
                </a:tc>
              </a:tr>
              <a:tr h="46520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职工薪酬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5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46520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劳务费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5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46520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委托业务费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5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46520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办公费、差旅费、会议费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5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46520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专家费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5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46520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软件与计算资源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5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46520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设备费、材料费及其他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5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  <a:tr h="465201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科技经费支出合计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endParaRPr sz="1150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1">
                          <a:solidFill>
                            <a:srgbClr val="23181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50" b="1">
                        <a:solidFill>
                          <a:srgbClr val="23181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231815"/>
                      </a:solidFill>
                    </a:lnL>
                    <a:lnR w="12700">
                      <a:solidFill>
                        <a:srgbClr val="231815"/>
                      </a:solidFill>
                    </a:lnR>
                    <a:lnT w="12700">
                      <a:solidFill>
                        <a:srgbClr val="231815"/>
                      </a:solidFill>
                    </a:lnT>
                    <a:lnB w="12700">
                      <a:solidFill>
                        <a:srgbClr val="23181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note"/>
          <p:cNvSpPr>
            <a:spLocks noGrp="1"/>
          </p:cNvSpPr>
          <p:nvPr/>
        </p:nvSpPr>
        <p:spPr>
          <a:xfrm>
            <a:off x="2286000" y="58674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注：大纲不预填金额；最终数据必须与财务审计口径一致后填写。</a:t>
            </a:r>
            <a:endParaRPr sz="11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29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1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32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六、今后工作的建议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（一）结论：已形成三条主线贯通的智能压裂研发原型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c0-bg"/>
          <p:cNvSpPr>
            <a:spLocks noGrp="1"/>
          </p:cNvSpPr>
          <p:nvPr/>
        </p:nvSpPr>
        <p:spPr>
          <a:xfrm>
            <a:off x="508000" y="1422400"/>
            <a:ext cx="11201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0" name="cc0-ic"/>
          <p:cNvSpPr>
            <a:spLocks noGrp="1"/>
          </p:cNvSpPr>
          <p:nvPr/>
        </p:nvSpPr>
        <p:spPr>
          <a:xfrm>
            <a:off x="711200" y="160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40" y="213"/>
                </a:moveTo>
                <a:lnTo>
                  <a:pt x="260" y="341"/>
                </a:lnTo>
                <a:cubicBezTo>
                  <a:pt x="256" y="347"/>
                  <a:pt x="249" y="352"/>
                  <a:pt x="241" y="352"/>
                </a:cubicBezTo>
                <a:cubicBezTo>
                  <a:pt x="233" y="352"/>
                  <a:pt x="226" y="349"/>
                  <a:pt x="221" y="342"/>
                </a:cubicBezTo>
                <a:lnTo>
                  <a:pt x="173" y="278"/>
                </a:lnTo>
                <a:cubicBezTo>
                  <a:pt x="165" y="268"/>
                  <a:pt x="167" y="253"/>
                  <a:pt x="178" y="245"/>
                </a:cubicBezTo>
                <a:cubicBezTo>
                  <a:pt x="188" y="237"/>
                  <a:pt x="203" y="239"/>
                  <a:pt x="211" y="250"/>
                </a:cubicBezTo>
                <a:lnTo>
                  <a:pt x="238" y="286"/>
                </a:lnTo>
                <a:lnTo>
                  <a:pt x="300" y="187"/>
                </a:lnTo>
                <a:cubicBezTo>
                  <a:pt x="307" y="176"/>
                  <a:pt x="322" y="173"/>
                  <a:pt x="333" y="180"/>
                </a:cubicBezTo>
                <a:cubicBezTo>
                  <a:pt x="344" y="187"/>
                  <a:pt x="348" y="202"/>
                  <a:pt x="340" y="213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1" name="cc0-t"/>
          <p:cNvSpPr>
            <a:spLocks noGrp="1"/>
          </p:cNvSpPr>
          <p:nvPr/>
        </p:nvSpPr>
        <p:spPr>
          <a:xfrm>
            <a:off x="1219200" y="1498600"/>
            <a:ext cx="10287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3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第一部分形成知识图谱、多模态数据库、GNN/两阶段工况识别和迁移学习链路</a:t>
            </a:r>
            <a:endParaRPr sz="13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c1-bg"/>
          <p:cNvSpPr>
            <a:spLocks noGrp="1"/>
          </p:cNvSpPr>
          <p:nvPr/>
        </p:nvSpPr>
        <p:spPr>
          <a:xfrm>
            <a:off x="508000" y="2209800"/>
            <a:ext cx="11201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3" name="cc1-ic"/>
          <p:cNvSpPr>
            <a:spLocks noGrp="1"/>
          </p:cNvSpPr>
          <p:nvPr/>
        </p:nvSpPr>
        <p:spPr>
          <a:xfrm>
            <a:off x="711200" y="2387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40" y="213"/>
                </a:moveTo>
                <a:lnTo>
                  <a:pt x="260" y="341"/>
                </a:lnTo>
                <a:cubicBezTo>
                  <a:pt x="256" y="347"/>
                  <a:pt x="249" y="352"/>
                  <a:pt x="241" y="352"/>
                </a:cubicBezTo>
                <a:cubicBezTo>
                  <a:pt x="233" y="352"/>
                  <a:pt x="226" y="349"/>
                  <a:pt x="221" y="342"/>
                </a:cubicBezTo>
                <a:lnTo>
                  <a:pt x="173" y="278"/>
                </a:lnTo>
                <a:cubicBezTo>
                  <a:pt x="165" y="268"/>
                  <a:pt x="167" y="253"/>
                  <a:pt x="178" y="245"/>
                </a:cubicBezTo>
                <a:cubicBezTo>
                  <a:pt x="188" y="237"/>
                  <a:pt x="203" y="239"/>
                  <a:pt x="211" y="250"/>
                </a:cubicBezTo>
                <a:lnTo>
                  <a:pt x="238" y="286"/>
                </a:lnTo>
                <a:lnTo>
                  <a:pt x="300" y="187"/>
                </a:lnTo>
                <a:cubicBezTo>
                  <a:pt x="307" y="176"/>
                  <a:pt x="322" y="173"/>
                  <a:pt x="333" y="180"/>
                </a:cubicBezTo>
                <a:cubicBezTo>
                  <a:pt x="344" y="187"/>
                  <a:pt x="348" y="202"/>
                  <a:pt x="340" y="213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4" name="cc1-t"/>
          <p:cNvSpPr>
            <a:spLocks noGrp="1"/>
          </p:cNvSpPr>
          <p:nvPr/>
        </p:nvSpPr>
        <p:spPr>
          <a:xfrm>
            <a:off x="1219200" y="2286000"/>
            <a:ext cx="10287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3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第二部分形成真实多源接入、coupled PKN、EnKF参数反演、直接观测验证和3D数字孪生</a:t>
            </a:r>
            <a:endParaRPr sz="13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c2-bg"/>
          <p:cNvSpPr>
            <a:spLocks noGrp="1"/>
          </p:cNvSpPr>
          <p:nvPr/>
        </p:nvSpPr>
        <p:spPr>
          <a:xfrm>
            <a:off x="508000" y="2997200"/>
            <a:ext cx="11201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6" name="cc2-ic"/>
          <p:cNvSpPr>
            <a:spLocks noGrp="1"/>
          </p:cNvSpPr>
          <p:nvPr/>
        </p:nvSpPr>
        <p:spPr>
          <a:xfrm>
            <a:off x="711200" y="3175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40" y="213"/>
                </a:moveTo>
                <a:lnTo>
                  <a:pt x="260" y="341"/>
                </a:lnTo>
                <a:cubicBezTo>
                  <a:pt x="256" y="347"/>
                  <a:pt x="249" y="352"/>
                  <a:pt x="241" y="352"/>
                </a:cubicBezTo>
                <a:cubicBezTo>
                  <a:pt x="233" y="352"/>
                  <a:pt x="226" y="349"/>
                  <a:pt x="221" y="342"/>
                </a:cubicBezTo>
                <a:lnTo>
                  <a:pt x="173" y="278"/>
                </a:lnTo>
                <a:cubicBezTo>
                  <a:pt x="165" y="268"/>
                  <a:pt x="167" y="253"/>
                  <a:pt x="178" y="245"/>
                </a:cubicBezTo>
                <a:cubicBezTo>
                  <a:pt x="188" y="237"/>
                  <a:pt x="203" y="239"/>
                  <a:pt x="211" y="250"/>
                </a:cubicBezTo>
                <a:lnTo>
                  <a:pt x="238" y="286"/>
                </a:lnTo>
                <a:lnTo>
                  <a:pt x="300" y="187"/>
                </a:lnTo>
                <a:cubicBezTo>
                  <a:pt x="307" y="176"/>
                  <a:pt x="322" y="173"/>
                  <a:pt x="333" y="180"/>
                </a:cubicBezTo>
                <a:cubicBezTo>
                  <a:pt x="344" y="187"/>
                  <a:pt x="348" y="202"/>
                  <a:pt x="340" y="213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17" name="cc2-t"/>
          <p:cNvSpPr>
            <a:spLocks noGrp="1"/>
          </p:cNvSpPr>
          <p:nvPr/>
        </p:nvSpPr>
        <p:spPr>
          <a:xfrm>
            <a:off x="1219200" y="3073400"/>
            <a:ext cx="10287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3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第三部分形成物理约束分层智能体、真实动作响应代理、策略训练和180秒安全验证</a:t>
            </a:r>
            <a:endParaRPr sz="13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cc3-bg"/>
          <p:cNvSpPr>
            <a:spLocks noGrp="1"/>
          </p:cNvSpPr>
          <p:nvPr/>
        </p:nvSpPr>
        <p:spPr>
          <a:xfrm>
            <a:off x="508000" y="3784600"/>
            <a:ext cx="11201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9" name="cc3-ic"/>
          <p:cNvSpPr>
            <a:spLocks noGrp="1"/>
          </p:cNvSpPr>
          <p:nvPr/>
        </p:nvSpPr>
        <p:spPr>
          <a:xfrm>
            <a:off x="711200" y="3962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340" y="213"/>
                </a:moveTo>
                <a:lnTo>
                  <a:pt x="260" y="341"/>
                </a:lnTo>
                <a:cubicBezTo>
                  <a:pt x="256" y="347"/>
                  <a:pt x="249" y="352"/>
                  <a:pt x="241" y="352"/>
                </a:cubicBezTo>
                <a:cubicBezTo>
                  <a:pt x="233" y="352"/>
                  <a:pt x="226" y="349"/>
                  <a:pt x="221" y="342"/>
                </a:cubicBezTo>
                <a:lnTo>
                  <a:pt x="173" y="278"/>
                </a:lnTo>
                <a:cubicBezTo>
                  <a:pt x="165" y="268"/>
                  <a:pt x="167" y="253"/>
                  <a:pt x="178" y="245"/>
                </a:cubicBezTo>
                <a:cubicBezTo>
                  <a:pt x="188" y="237"/>
                  <a:pt x="203" y="239"/>
                  <a:pt x="211" y="250"/>
                </a:cubicBezTo>
                <a:lnTo>
                  <a:pt x="238" y="286"/>
                </a:lnTo>
                <a:lnTo>
                  <a:pt x="300" y="187"/>
                </a:lnTo>
                <a:cubicBezTo>
                  <a:pt x="307" y="176"/>
                  <a:pt x="322" y="173"/>
                  <a:pt x="333" y="180"/>
                </a:cubicBezTo>
                <a:cubicBezTo>
                  <a:pt x="344" y="187"/>
                  <a:pt x="348" y="202"/>
                  <a:pt x="340" y="213"/>
                </a:cubicBez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20" name="cc3-t"/>
          <p:cNvSpPr>
            <a:spLocks noGrp="1"/>
          </p:cNvSpPr>
          <p:nvPr/>
        </p:nvSpPr>
        <p:spPr>
          <a:xfrm>
            <a:off x="1219200" y="3860800"/>
            <a:ext cx="10287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3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项目代码已按三模块精简，具备统一入口、接口调用、代表性模型和验证产物</a:t>
            </a:r>
            <a:endParaRPr sz="13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c4-bg"/>
          <p:cNvSpPr>
            <a:spLocks noGrp="1"/>
          </p:cNvSpPr>
          <p:nvPr/>
        </p:nvSpPr>
        <p:spPr>
          <a:xfrm>
            <a:off x="508000" y="4572000"/>
            <a:ext cx="11201400" cy="13716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D591"/>
            </a:solidFill>
          </a:ln>
        </p:spPr>
      </p:sp>
      <p:sp>
        <p:nvSpPr>
          <p:cNvPr id="22" name="cc4-ic"/>
          <p:cNvSpPr>
            <a:spLocks noGrp="1"/>
          </p:cNvSpPr>
          <p:nvPr/>
        </p:nvSpPr>
        <p:spPr>
          <a:xfrm>
            <a:off x="711200" y="4749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D48806"/>
          </a:solidFill>
          <a:ln>
            <a:noFill/>
          </a:ln>
        </p:spPr>
      </p:sp>
      <p:sp>
        <p:nvSpPr>
          <p:cNvPr id="23" name="cc4-t"/>
          <p:cNvSpPr>
            <a:spLocks noGrp="1"/>
          </p:cNvSpPr>
          <p:nvPr/>
        </p:nvSpPr>
        <p:spPr>
          <a:xfrm>
            <a:off x="1219200" y="4699000"/>
            <a:ext cx="10287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  <a:buNone/>
            </a:pPr>
            <a:r>
              <a:rPr sz="13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当前观测空间反演误差和计算时效达到阶段指标；</a:t>
            </a:r>
            <a:r>
              <a:rPr sz="13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但95%识别精度、5分钟预警和180秒全场景安全仍需继续攻关，相关结论以代码、模型、CSV、summary.json或现场测试报告为证据。</a:t>
            </a:r>
            <a:endParaRPr sz="13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1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42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4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45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六、今后工作的建议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（二）下一阶段聚焦真实标签、砂堵场景和现场闭环验证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g0-bg"/>
          <p:cNvSpPr>
            <a:spLocks noGrp="1"/>
          </p:cNvSpPr>
          <p:nvPr/>
        </p:nvSpPr>
        <p:spPr>
          <a:xfrm>
            <a:off x="508000" y="1422400"/>
            <a:ext cx="5461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0" name="sg0-no"/>
          <p:cNvSpPr>
            <a:spLocks noGrp="1"/>
          </p:cNvSpPr>
          <p:nvPr/>
        </p:nvSpPr>
        <p:spPr>
          <a:xfrm>
            <a:off x="660400" y="1600200"/>
            <a:ext cx="3810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11" name="sg0-num"/>
          <p:cNvSpPr>
            <a:spLocks noGrp="1"/>
          </p:cNvSpPr>
          <p:nvPr/>
        </p:nvSpPr>
        <p:spPr>
          <a:xfrm>
            <a:off x="660400" y="1600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4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g0-t"/>
          <p:cNvSpPr>
            <a:spLocks noGrp="1"/>
          </p:cNvSpPr>
          <p:nvPr/>
        </p:nvSpPr>
        <p:spPr>
          <a:xfrm>
            <a:off x="1193800" y="1524000"/>
            <a:ext cx="4597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补充真实DAS原始振幅、射孔簇位置、裂缝解释缝长及同步施工数据，建立独立几何验证集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g1-bg"/>
          <p:cNvSpPr>
            <a:spLocks noGrp="1"/>
          </p:cNvSpPr>
          <p:nvPr/>
        </p:nvSpPr>
        <p:spPr>
          <a:xfrm>
            <a:off x="508000" y="2565400"/>
            <a:ext cx="5461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4" name="sg1-no"/>
          <p:cNvSpPr>
            <a:spLocks noGrp="1"/>
          </p:cNvSpPr>
          <p:nvPr/>
        </p:nvSpPr>
        <p:spPr>
          <a:xfrm>
            <a:off x="660400" y="2743200"/>
            <a:ext cx="3810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15" name="sg1-num"/>
          <p:cNvSpPr>
            <a:spLocks noGrp="1"/>
          </p:cNvSpPr>
          <p:nvPr/>
        </p:nvSpPr>
        <p:spPr>
          <a:xfrm>
            <a:off x="660400" y="2743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4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g1-t"/>
          <p:cNvSpPr>
            <a:spLocks noGrp="1"/>
          </p:cNvSpPr>
          <p:nvPr/>
        </p:nvSpPr>
        <p:spPr>
          <a:xfrm>
            <a:off x="1193800" y="2667000"/>
            <a:ext cx="4597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补充砂堵和极少异常段，开展段级交叉验证和长尾专用模型训练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g2-bg"/>
          <p:cNvSpPr>
            <a:spLocks noGrp="1"/>
          </p:cNvSpPr>
          <p:nvPr/>
        </p:nvSpPr>
        <p:spPr>
          <a:xfrm>
            <a:off x="508000" y="3708400"/>
            <a:ext cx="5461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8" name="sg2-no"/>
          <p:cNvSpPr>
            <a:spLocks noGrp="1"/>
          </p:cNvSpPr>
          <p:nvPr/>
        </p:nvSpPr>
        <p:spPr>
          <a:xfrm>
            <a:off x="660400" y="3886200"/>
            <a:ext cx="3810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19" name="sg2-num"/>
          <p:cNvSpPr>
            <a:spLocks noGrp="1"/>
          </p:cNvSpPr>
          <p:nvPr/>
        </p:nvSpPr>
        <p:spPr>
          <a:xfrm>
            <a:off x="660400" y="3886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4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g2-t"/>
          <p:cNvSpPr>
            <a:spLocks noGrp="1"/>
          </p:cNvSpPr>
          <p:nvPr/>
        </p:nvSpPr>
        <p:spPr>
          <a:xfrm>
            <a:off x="1193800" y="3810000"/>
            <a:ext cx="4597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将当前60秒动作响应扩展到5分钟滚动预测，并校准不确定性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g3-bg"/>
          <p:cNvSpPr>
            <a:spLocks noGrp="1"/>
          </p:cNvSpPr>
          <p:nvPr/>
        </p:nvSpPr>
        <p:spPr>
          <a:xfrm>
            <a:off x="508000" y="4851400"/>
            <a:ext cx="5461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2" name="sg3-no"/>
          <p:cNvSpPr>
            <a:spLocks noGrp="1"/>
          </p:cNvSpPr>
          <p:nvPr/>
        </p:nvSpPr>
        <p:spPr>
          <a:xfrm>
            <a:off x="660400" y="5029200"/>
            <a:ext cx="3810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23" name="sg3-num"/>
          <p:cNvSpPr>
            <a:spLocks noGrp="1"/>
          </p:cNvSpPr>
          <p:nvPr/>
        </p:nvSpPr>
        <p:spPr>
          <a:xfrm>
            <a:off x="660400" y="5029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4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g3-t"/>
          <p:cNvSpPr>
            <a:spLocks noGrp="1"/>
          </p:cNvSpPr>
          <p:nvPr/>
        </p:nvSpPr>
        <p:spPr>
          <a:xfrm>
            <a:off x="1193800" y="4953000"/>
            <a:ext cx="4597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针对砂堵风险场景开展课程训练、专家示范和安全强化学习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g4-bg"/>
          <p:cNvSpPr>
            <a:spLocks noGrp="1"/>
          </p:cNvSpPr>
          <p:nvPr/>
        </p:nvSpPr>
        <p:spPr>
          <a:xfrm>
            <a:off x="6248400" y="1422400"/>
            <a:ext cx="5461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6" name="sg4-no"/>
          <p:cNvSpPr>
            <a:spLocks noGrp="1"/>
          </p:cNvSpPr>
          <p:nvPr/>
        </p:nvSpPr>
        <p:spPr>
          <a:xfrm>
            <a:off x="6400800" y="1600200"/>
            <a:ext cx="3810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27" name="sg4-num"/>
          <p:cNvSpPr>
            <a:spLocks noGrp="1"/>
          </p:cNvSpPr>
          <p:nvPr/>
        </p:nvSpPr>
        <p:spPr>
          <a:xfrm>
            <a:off x="6400800" y="1600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4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g4-t"/>
          <p:cNvSpPr>
            <a:spLocks noGrp="1"/>
          </p:cNvSpPr>
          <p:nvPr/>
        </p:nvSpPr>
        <p:spPr>
          <a:xfrm>
            <a:off x="6934200" y="1524000"/>
            <a:ext cx="4597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引入高保真BEM/数值裂缝模型，训练代理模型并进行跨模型一致性验证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g5-bg"/>
          <p:cNvSpPr>
            <a:spLocks noGrp="1"/>
          </p:cNvSpPr>
          <p:nvPr/>
        </p:nvSpPr>
        <p:spPr>
          <a:xfrm>
            <a:off x="6248400" y="2565400"/>
            <a:ext cx="5461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0" name="sg5-no"/>
          <p:cNvSpPr>
            <a:spLocks noGrp="1"/>
          </p:cNvSpPr>
          <p:nvPr/>
        </p:nvSpPr>
        <p:spPr>
          <a:xfrm>
            <a:off x="6400800" y="2743200"/>
            <a:ext cx="3810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31" name="sg5-num"/>
          <p:cNvSpPr>
            <a:spLocks noGrp="1"/>
          </p:cNvSpPr>
          <p:nvPr/>
        </p:nvSpPr>
        <p:spPr>
          <a:xfrm>
            <a:off x="6400800" y="2743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4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g5-t"/>
          <p:cNvSpPr>
            <a:spLocks noGrp="1"/>
          </p:cNvSpPr>
          <p:nvPr/>
        </p:nvSpPr>
        <p:spPr>
          <a:xfrm>
            <a:off x="6934200" y="2667000"/>
            <a:ext cx="4597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按甲方软硬件环境开展15秒端到端计时和180秒连续安全专项测试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g6-bg"/>
          <p:cNvSpPr>
            <a:spLocks noGrp="1"/>
          </p:cNvSpPr>
          <p:nvPr/>
        </p:nvSpPr>
        <p:spPr>
          <a:xfrm>
            <a:off x="6248400" y="3708400"/>
            <a:ext cx="5461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4" name="sg6-no"/>
          <p:cNvSpPr>
            <a:spLocks noGrp="1"/>
          </p:cNvSpPr>
          <p:nvPr/>
        </p:nvSpPr>
        <p:spPr>
          <a:xfrm>
            <a:off x="6400800" y="3886200"/>
            <a:ext cx="381000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35" name="sg6-num"/>
          <p:cNvSpPr>
            <a:spLocks noGrp="1"/>
          </p:cNvSpPr>
          <p:nvPr/>
        </p:nvSpPr>
        <p:spPr>
          <a:xfrm>
            <a:off x="6400800" y="3886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4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sg6-t"/>
          <p:cNvSpPr>
            <a:spLocks noGrp="1"/>
          </p:cNvSpPr>
          <p:nvPr/>
        </p:nvSpPr>
        <p:spPr>
          <a:xfrm>
            <a:off x="6934200" y="3810000"/>
            <a:ext cx="4597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2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完善接口协议、权限审计、异常降级、模型版本管理和现场联调</a:t>
            </a:r>
            <a:endParaRPr sz="12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50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279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"/>
          <p:cNvSpPr>
            <a:spLocks noGrp="1"/>
          </p:cNvSpPr>
          <p:nvPr/>
        </p:nvSpPr>
        <p:spPr>
          <a:xfrm>
            <a:off x="7771130" y="6323330"/>
            <a:ext cx="270637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sz="1050" b="1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中石化石油工程技术研究院有限公司</a:t>
            </a:r>
            <a:endParaRPr sz="1050" b="1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</a:pPr>
            <a:r>
              <a:rPr sz="800" b="1">
                <a:solidFill>
                  <a:srgbClr val="23181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SINOPEC Research Institute of Petroleum Engineering Co., Ltd.</a:t>
            </a:r>
            <a:endParaRPr sz="800" b="1">
              <a:solidFill>
                <a:srgbClr val="23181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2" name="hb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73710"/>
            <a:ext cx="12145010" cy="363220"/>
          </a:xfrm>
          <a:prstGeom prst="rect">
            <a:avLst/>
          </a:prstGeom>
          <a:ln>
            <a:noFill/>
          </a:ln>
        </p:spPr>
      </p:pic>
      <p:pic>
        <p:nvPicPr>
          <p:cNvPr id="53" name="f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" y="6262370"/>
            <a:ext cx="1084580" cy="346710"/>
          </a:xfrm>
          <a:prstGeom prst="rect">
            <a:avLst/>
          </a:prstGeom>
          <a:ln>
            <a:noFill/>
          </a:ln>
        </p:spPr>
      </p:pic>
      <p:sp>
        <p:nvSpPr>
          <p:cNvPr id="7" name="chtitle"/>
          <p:cNvSpPr>
            <a:spLocks noGrp="1"/>
          </p:cNvSpPr>
          <p:nvPr/>
        </p:nvSpPr>
        <p:spPr>
          <a:xfrm>
            <a:off x="1016000" y="228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  <a:buNone/>
            </a:pPr>
            <a:r>
              <a:rPr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六、今后工作的建议</a:t>
            </a:r>
            <a:endParaRPr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btitle"/>
          <p:cNvSpPr>
            <a:spLocks noGrp="1"/>
          </p:cNvSpPr>
          <p:nvPr/>
        </p:nvSpPr>
        <p:spPr>
          <a:xfrm>
            <a:off x="381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（三）验收支撑材料：源代码、数据、模型、指标和演示材料形成闭环证据</a:t>
            </a:r>
            <a:endParaRPr sz="1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t0-bg"/>
          <p:cNvSpPr>
            <a:spLocks noGrp="1"/>
          </p:cNvSpPr>
          <p:nvPr/>
        </p:nvSpPr>
        <p:spPr>
          <a:xfrm>
            <a:off x="508000" y="1422400"/>
            <a:ext cx="36068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0" name="mt0-ic"/>
          <p:cNvSpPr>
            <a:spLocks noGrp="1"/>
          </p:cNvSpPr>
          <p:nvPr/>
        </p:nvSpPr>
        <p:spPr>
          <a:xfrm>
            <a:off x="6858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</a:path>
              <a:path w="576" h="512"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</a:path>
              <a:path w="576" h="512"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1" name="mt0-title"/>
          <p:cNvSpPr>
            <a:spLocks noGrp="1"/>
          </p:cNvSpPr>
          <p:nvPr/>
        </p:nvSpPr>
        <p:spPr>
          <a:xfrm>
            <a:off x="1117600" y="1574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源代码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t0-body"/>
          <p:cNvSpPr>
            <a:spLocks noGrp="1"/>
          </p:cNvSpPr>
          <p:nvPr/>
        </p:nvSpPr>
        <p:spPr>
          <a:xfrm>
            <a:off x="711200" y="1981200"/>
            <a:ext cx="3225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三部分源代码及统一运行入口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mt1-bg"/>
          <p:cNvSpPr>
            <a:spLocks noGrp="1"/>
          </p:cNvSpPr>
          <p:nvPr/>
        </p:nvSpPr>
        <p:spPr>
          <a:xfrm>
            <a:off x="4318000" y="1422400"/>
            <a:ext cx="36068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4" name="mt1-ic"/>
          <p:cNvSpPr>
            <a:spLocks noGrp="1"/>
          </p:cNvSpPr>
          <p:nvPr/>
        </p:nvSpPr>
        <p:spPr>
          <a:xfrm>
            <a:off x="44958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5" name="mt1-title"/>
          <p:cNvSpPr>
            <a:spLocks noGrp="1"/>
          </p:cNvSpPr>
          <p:nvPr/>
        </p:nvSpPr>
        <p:spPr>
          <a:xfrm>
            <a:off x="4927600" y="1574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数据清单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mt1-body"/>
          <p:cNvSpPr>
            <a:spLocks noGrp="1"/>
          </p:cNvSpPr>
          <p:nvPr/>
        </p:nvSpPr>
        <p:spPr>
          <a:xfrm>
            <a:off x="4521200" y="1981200"/>
            <a:ext cx="3225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数据manifest和保密数据说明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mt2-bg"/>
          <p:cNvSpPr>
            <a:spLocks noGrp="1"/>
          </p:cNvSpPr>
          <p:nvPr/>
        </p:nvSpPr>
        <p:spPr>
          <a:xfrm>
            <a:off x="8128000" y="1422400"/>
            <a:ext cx="36068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18" name="mt2-ic"/>
          <p:cNvSpPr>
            <a:spLocks noGrp="1"/>
          </p:cNvSpPr>
          <p:nvPr/>
        </p:nvSpPr>
        <p:spPr>
          <a:xfrm>
            <a:off x="83058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80"/>
                </a:moveTo>
                <a:cubicBezTo>
                  <a:pt x="0" y="54"/>
                  <a:pt x="22" y="32"/>
                  <a:pt x="48" y="32"/>
                </a:cubicBezTo>
                <a:lnTo>
                  <a:pt x="144" y="32"/>
                </a:lnTo>
                <a:cubicBezTo>
                  <a:pt x="171" y="32"/>
                  <a:pt x="192" y="54"/>
                  <a:pt x="192" y="80"/>
                </a:cubicBezTo>
                <a:lnTo>
                  <a:pt x="192" y="96"/>
                </a:lnTo>
                <a:lnTo>
                  <a:pt x="320" y="96"/>
                </a:lnTo>
                <a:lnTo>
                  <a:pt x="320" y="80"/>
                </a:lnTo>
                <a:cubicBezTo>
                  <a:pt x="320" y="54"/>
                  <a:pt x="342" y="32"/>
                  <a:pt x="368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176"/>
                </a:lnTo>
                <a:cubicBezTo>
                  <a:pt x="512" y="203"/>
                  <a:pt x="491" y="224"/>
                  <a:pt x="464" y="224"/>
                </a:cubicBezTo>
                <a:lnTo>
                  <a:pt x="368" y="224"/>
                </a:lnTo>
                <a:cubicBezTo>
                  <a:pt x="342" y="224"/>
                  <a:pt x="320" y="203"/>
                  <a:pt x="320" y="176"/>
                </a:cubicBezTo>
                <a:lnTo>
                  <a:pt x="320" y="160"/>
                </a:lnTo>
                <a:lnTo>
                  <a:pt x="192" y="160"/>
                </a:lnTo>
                <a:lnTo>
                  <a:pt x="192" y="176"/>
                </a:lnTo>
                <a:cubicBezTo>
                  <a:pt x="192" y="183"/>
                  <a:pt x="190" y="190"/>
                  <a:pt x="187" y="197"/>
                </a:cubicBezTo>
                <a:lnTo>
                  <a:pt x="256" y="288"/>
                </a:lnTo>
                <a:lnTo>
                  <a:pt x="336" y="288"/>
                </a:lnTo>
                <a:cubicBezTo>
                  <a:pt x="363" y="288"/>
                  <a:pt x="384" y="310"/>
                  <a:pt x="384" y="336"/>
                </a:cubicBezTo>
                <a:lnTo>
                  <a:pt x="384" y="432"/>
                </a:lnTo>
                <a:cubicBezTo>
                  <a:pt x="384" y="459"/>
                  <a:pt x="363" y="480"/>
                  <a:pt x="336" y="480"/>
                </a:cubicBezTo>
                <a:lnTo>
                  <a:pt x="240" y="480"/>
                </a:lnTo>
                <a:cubicBezTo>
                  <a:pt x="214" y="480"/>
                  <a:pt x="192" y="459"/>
                  <a:pt x="192" y="432"/>
                </a:cubicBezTo>
                <a:lnTo>
                  <a:pt x="192" y="336"/>
                </a:lnTo>
                <a:cubicBezTo>
                  <a:pt x="192" y="329"/>
                  <a:pt x="194" y="322"/>
                  <a:pt x="197" y="316"/>
                </a:cubicBezTo>
                <a:lnTo>
                  <a:pt x="128" y="224"/>
                </a:lnTo>
                <a:lnTo>
                  <a:pt x="48" y="224"/>
                </a:lnTo>
                <a:cubicBezTo>
                  <a:pt x="22" y="224"/>
                  <a:pt x="0" y="203"/>
                  <a:pt x="0" y="176"/>
                </a:cubicBezTo>
                <a:lnTo>
                  <a:pt x="0" y="8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19" name="mt2-title"/>
          <p:cNvSpPr>
            <a:spLocks noGrp="1"/>
          </p:cNvSpPr>
          <p:nvPr/>
        </p:nvSpPr>
        <p:spPr>
          <a:xfrm>
            <a:off x="8737600" y="15748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知识图谱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mt2-body"/>
          <p:cNvSpPr>
            <a:spLocks noGrp="1"/>
          </p:cNvSpPr>
          <p:nvPr/>
        </p:nvSpPr>
        <p:spPr>
          <a:xfrm>
            <a:off x="8331200" y="1981200"/>
            <a:ext cx="3225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实体、关系、规则、GraphML和HTML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mt3-bg"/>
          <p:cNvSpPr>
            <a:spLocks noGrp="1"/>
          </p:cNvSpPr>
          <p:nvPr/>
        </p:nvSpPr>
        <p:spPr>
          <a:xfrm>
            <a:off x="508000" y="2971800"/>
            <a:ext cx="36068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2" name="mt3-ic"/>
          <p:cNvSpPr>
            <a:spLocks noGrp="1"/>
          </p:cNvSpPr>
          <p:nvPr/>
        </p:nvSpPr>
        <p:spPr>
          <a:xfrm>
            <a:off x="685800" y="313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0" y="56"/>
                </a:moveTo>
                <a:cubicBezTo>
                  <a:pt x="120" y="25"/>
                  <a:pt x="145" y="0"/>
                  <a:pt x="176" y="0"/>
                </a:cubicBezTo>
                <a:lnTo>
                  <a:pt x="200" y="0"/>
                </a:lnTo>
                <a:cubicBezTo>
                  <a:pt x="218" y="0"/>
                  <a:pt x="232" y="14"/>
                  <a:pt x="232" y="32"/>
                </a:cubicBezTo>
                <a:lnTo>
                  <a:pt x="232" y="480"/>
                </a:lnTo>
                <a:cubicBezTo>
                  <a:pt x="232" y="498"/>
                  <a:pt x="218" y="512"/>
                  <a:pt x="200" y="512"/>
                </a:cubicBezTo>
                <a:lnTo>
                  <a:pt x="168" y="512"/>
                </a:lnTo>
                <a:cubicBezTo>
                  <a:pt x="138" y="512"/>
                  <a:pt x="113" y="492"/>
                  <a:pt x="106" y="464"/>
                </a:cubicBezTo>
                <a:cubicBezTo>
                  <a:pt x="105" y="464"/>
                  <a:pt x="105" y="464"/>
                  <a:pt x="104" y="464"/>
                </a:cubicBezTo>
                <a:cubicBezTo>
                  <a:pt x="60" y="464"/>
                  <a:pt x="24" y="428"/>
                  <a:pt x="24" y="384"/>
                </a:cubicBezTo>
                <a:cubicBezTo>
                  <a:pt x="24" y="366"/>
                  <a:pt x="30" y="349"/>
                  <a:pt x="40" y="336"/>
                </a:cubicBezTo>
                <a:cubicBezTo>
                  <a:pt x="21" y="321"/>
                  <a:pt x="8" y="298"/>
                  <a:pt x="8" y="272"/>
                </a:cubicBezTo>
                <a:cubicBezTo>
                  <a:pt x="8" y="241"/>
                  <a:pt x="26" y="214"/>
                  <a:pt x="51" y="201"/>
                </a:cubicBezTo>
                <a:cubicBezTo>
                  <a:pt x="44" y="189"/>
                  <a:pt x="40" y="175"/>
                  <a:pt x="40" y="160"/>
                </a:cubicBezTo>
                <a:cubicBezTo>
                  <a:pt x="40" y="116"/>
                  <a:pt x="76" y="80"/>
                  <a:pt x="120" y="80"/>
                </a:cubicBezTo>
                <a:lnTo>
                  <a:pt x="120" y="56"/>
                </a:lnTo>
                <a:close/>
                <a:moveTo>
                  <a:pt x="392" y="56"/>
                </a:moveTo>
                <a:lnTo>
                  <a:pt x="392" y="80"/>
                </a:lnTo>
                <a:cubicBezTo>
                  <a:pt x="436" y="80"/>
                  <a:pt x="472" y="116"/>
                  <a:pt x="472" y="160"/>
                </a:cubicBezTo>
                <a:cubicBezTo>
                  <a:pt x="472" y="175"/>
                  <a:pt x="468" y="189"/>
                  <a:pt x="461" y="201"/>
                </a:cubicBezTo>
                <a:cubicBezTo>
                  <a:pt x="487" y="214"/>
                  <a:pt x="504" y="241"/>
                  <a:pt x="504" y="272"/>
                </a:cubicBezTo>
                <a:cubicBezTo>
                  <a:pt x="504" y="298"/>
                  <a:pt x="491" y="321"/>
                  <a:pt x="472" y="336"/>
                </a:cubicBezTo>
                <a:cubicBezTo>
                  <a:pt x="482" y="349"/>
                  <a:pt x="488" y="366"/>
                  <a:pt x="488" y="384"/>
                </a:cubicBezTo>
                <a:cubicBezTo>
                  <a:pt x="488" y="428"/>
                  <a:pt x="452" y="464"/>
                  <a:pt x="408" y="464"/>
                </a:cubicBezTo>
                <a:cubicBezTo>
                  <a:pt x="407" y="464"/>
                  <a:pt x="407" y="464"/>
                  <a:pt x="406" y="464"/>
                </a:cubicBezTo>
                <a:cubicBezTo>
                  <a:pt x="399" y="492"/>
                  <a:pt x="374" y="512"/>
                  <a:pt x="344" y="512"/>
                </a:cubicBezTo>
                <a:lnTo>
                  <a:pt x="312" y="512"/>
                </a:lnTo>
                <a:cubicBezTo>
                  <a:pt x="294" y="512"/>
                  <a:pt x="280" y="498"/>
                  <a:pt x="280" y="480"/>
                </a:cubicBezTo>
                <a:lnTo>
                  <a:pt x="280" y="32"/>
                </a:lnTo>
                <a:cubicBezTo>
                  <a:pt x="280" y="14"/>
                  <a:pt x="294" y="0"/>
                  <a:pt x="312" y="0"/>
                </a:cubicBezTo>
                <a:lnTo>
                  <a:pt x="336" y="0"/>
                </a:lnTo>
                <a:cubicBezTo>
                  <a:pt x="367" y="0"/>
                  <a:pt x="392" y="25"/>
                  <a:pt x="392" y="5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23" name="mt3-title"/>
          <p:cNvSpPr>
            <a:spLocks noGrp="1"/>
          </p:cNvSpPr>
          <p:nvPr/>
        </p:nvSpPr>
        <p:spPr>
          <a:xfrm>
            <a:off x="1117600" y="3124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识别模型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mt3-body"/>
          <p:cNvSpPr>
            <a:spLocks noGrp="1"/>
          </p:cNvSpPr>
          <p:nvPr/>
        </p:nvSpPr>
        <p:spPr>
          <a:xfrm>
            <a:off x="711200" y="3530600"/>
            <a:ext cx="3225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GNN、迁移学习、两阶段识别模型及指标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mt4-bg"/>
          <p:cNvSpPr>
            <a:spLocks noGrp="1"/>
          </p:cNvSpPr>
          <p:nvPr/>
        </p:nvSpPr>
        <p:spPr>
          <a:xfrm>
            <a:off x="4318000" y="2971800"/>
            <a:ext cx="36068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26" name="mt4-ic"/>
          <p:cNvSpPr>
            <a:spLocks noGrp="1"/>
          </p:cNvSpPr>
          <p:nvPr/>
        </p:nvSpPr>
        <p:spPr>
          <a:xfrm>
            <a:off x="4495800" y="313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-2"/>
                </a:moveTo>
                <a:cubicBezTo>
                  <a:pt x="244" y="-14"/>
                  <a:pt x="269" y="-14"/>
                  <a:pt x="288" y="-2"/>
                </a:cubicBezTo>
                <a:lnTo>
                  <a:pt x="464" y="99"/>
                </a:lnTo>
                <a:cubicBezTo>
                  <a:pt x="484" y="110"/>
                  <a:pt x="496" y="132"/>
                  <a:pt x="496" y="154"/>
                </a:cubicBezTo>
                <a:lnTo>
                  <a:pt x="496" y="357"/>
                </a:lnTo>
                <a:cubicBezTo>
                  <a:pt x="496" y="380"/>
                  <a:pt x="484" y="401"/>
                  <a:pt x="464" y="413"/>
                </a:cubicBezTo>
                <a:lnTo>
                  <a:pt x="288" y="515"/>
                </a:lnTo>
                <a:cubicBezTo>
                  <a:pt x="269" y="526"/>
                  <a:pt x="244" y="526"/>
                  <a:pt x="224" y="515"/>
                </a:cubicBezTo>
                <a:lnTo>
                  <a:pt x="49" y="413"/>
                </a:lnTo>
                <a:cubicBezTo>
                  <a:pt x="29" y="402"/>
                  <a:pt x="17" y="380"/>
                  <a:pt x="17" y="358"/>
                </a:cubicBezTo>
                <a:lnTo>
                  <a:pt x="17" y="155"/>
                </a:lnTo>
                <a:cubicBezTo>
                  <a:pt x="17" y="132"/>
                  <a:pt x="29" y="111"/>
                  <a:pt x="49" y="99"/>
                </a:cubicBezTo>
                <a:lnTo>
                  <a:pt x="224" y="-2"/>
                </a:lnTo>
                <a:close/>
                <a:moveTo>
                  <a:pt x="432" y="358"/>
                </a:moveTo>
                <a:lnTo>
                  <a:pt x="432" y="191"/>
                </a:lnTo>
                <a:lnTo>
                  <a:pt x="288" y="274"/>
                </a:lnTo>
                <a:lnTo>
                  <a:pt x="288" y="441"/>
                </a:lnTo>
                <a:lnTo>
                  <a:pt x="432" y="35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27" name="mt4-title"/>
          <p:cNvSpPr>
            <a:spLocks noGrp="1"/>
          </p:cNvSpPr>
          <p:nvPr/>
        </p:nvSpPr>
        <p:spPr>
          <a:xfrm>
            <a:off x="4927600" y="3124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正演反演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mt4-body"/>
          <p:cNvSpPr>
            <a:spLocks noGrp="1"/>
          </p:cNvSpPr>
          <p:nvPr/>
        </p:nvSpPr>
        <p:spPr>
          <a:xfrm>
            <a:off x="4521200" y="3530600"/>
            <a:ext cx="3225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PKN/BEM/代理模型、EnKF结果及性能报告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mt5-bg"/>
          <p:cNvSpPr>
            <a:spLocks noGrp="1"/>
          </p:cNvSpPr>
          <p:nvPr/>
        </p:nvSpPr>
        <p:spPr>
          <a:xfrm>
            <a:off x="8128000" y="2971800"/>
            <a:ext cx="36068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0" name="mt5-ic"/>
          <p:cNvSpPr>
            <a:spLocks noGrp="1"/>
          </p:cNvSpPr>
          <p:nvPr/>
        </p:nvSpPr>
        <p:spPr>
          <a:xfrm>
            <a:off x="8305800" y="313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4" y="-1"/>
                </a:moveTo>
                <a:cubicBezTo>
                  <a:pt x="267" y="-11"/>
                  <a:pt x="245" y="-11"/>
                  <a:pt x="228" y="-1"/>
                </a:cubicBezTo>
                <a:lnTo>
                  <a:pt x="144" y="47"/>
                </a:lnTo>
                <a:cubicBezTo>
                  <a:pt x="127" y="57"/>
                  <a:pt x="116" y="76"/>
                  <a:pt x="116" y="96"/>
                </a:cubicBezTo>
                <a:lnTo>
                  <a:pt x="116" y="198"/>
                </a:lnTo>
                <a:lnTo>
                  <a:pt x="28" y="249"/>
                </a:lnTo>
                <a:cubicBezTo>
                  <a:pt x="10" y="259"/>
                  <a:pt x="0" y="277"/>
                  <a:pt x="0" y="297"/>
                </a:cubicBezTo>
                <a:lnTo>
                  <a:pt x="0" y="395"/>
                </a:lnTo>
                <a:cubicBezTo>
                  <a:pt x="0" y="415"/>
                  <a:pt x="10" y="433"/>
                  <a:pt x="28" y="443"/>
                </a:cubicBezTo>
                <a:lnTo>
                  <a:pt x="112" y="492"/>
                </a:lnTo>
                <a:cubicBezTo>
                  <a:pt x="129" y="502"/>
                  <a:pt x="151" y="502"/>
                  <a:pt x="168" y="492"/>
                </a:cubicBezTo>
                <a:lnTo>
                  <a:pt x="256" y="441"/>
                </a:lnTo>
                <a:lnTo>
                  <a:pt x="344" y="492"/>
                </a:lnTo>
                <a:cubicBezTo>
                  <a:pt x="362" y="502"/>
                  <a:pt x="383" y="502"/>
                  <a:pt x="400" y="492"/>
                </a:cubicBezTo>
                <a:lnTo>
                  <a:pt x="485" y="443"/>
                </a:lnTo>
                <a:cubicBezTo>
                  <a:pt x="502" y="433"/>
                  <a:pt x="513" y="415"/>
                  <a:pt x="513" y="395"/>
                </a:cubicBezTo>
                <a:lnTo>
                  <a:pt x="513" y="297"/>
                </a:lnTo>
                <a:cubicBezTo>
                  <a:pt x="513" y="277"/>
                  <a:pt x="502" y="259"/>
                  <a:pt x="485" y="249"/>
                </a:cubicBezTo>
                <a:lnTo>
                  <a:pt x="396" y="198"/>
                </a:lnTo>
                <a:lnTo>
                  <a:pt x="396" y="96"/>
                </a:lnTo>
                <a:cubicBezTo>
                  <a:pt x="396" y="76"/>
                  <a:pt x="386" y="57"/>
                  <a:pt x="368" y="47"/>
                </a:cubicBezTo>
                <a:lnTo>
                  <a:pt x="284" y="-1"/>
                </a:lnTo>
                <a:close/>
                <a:moveTo>
                  <a:pt x="232" y="293"/>
                </a:moveTo>
                <a:lnTo>
                  <a:pt x="232" y="399"/>
                </a:lnTo>
                <a:lnTo>
                  <a:pt x="144" y="450"/>
                </a:lnTo>
                <a:cubicBezTo>
                  <a:pt x="143" y="451"/>
                  <a:pt x="141" y="451"/>
                  <a:pt x="140" y="451"/>
                </a:cubicBezTo>
                <a:lnTo>
                  <a:pt x="140" y="346"/>
                </a:lnTo>
                <a:lnTo>
                  <a:pt x="232" y="293"/>
                </a:lnTo>
                <a:close/>
                <a:moveTo>
                  <a:pt x="463" y="293"/>
                </a:moveTo>
                <a:cubicBezTo>
                  <a:pt x="464" y="294"/>
                  <a:pt x="465" y="296"/>
                  <a:pt x="465" y="297"/>
                </a:cubicBezTo>
                <a:lnTo>
                  <a:pt x="465" y="395"/>
                </a:lnTo>
                <a:cubicBezTo>
                  <a:pt x="465" y="397"/>
                  <a:pt x="463" y="400"/>
                  <a:pt x="461" y="401"/>
                </a:cubicBezTo>
                <a:lnTo>
                  <a:pt x="376" y="450"/>
                </a:lnTo>
                <a:cubicBezTo>
                  <a:pt x="375" y="451"/>
                  <a:pt x="374" y="451"/>
                  <a:pt x="372" y="451"/>
                </a:cubicBezTo>
                <a:lnTo>
                  <a:pt x="372" y="346"/>
                </a:lnTo>
                <a:lnTo>
                  <a:pt x="463" y="293"/>
                </a:lnTo>
                <a:close/>
                <a:moveTo>
                  <a:pt x="348" y="96"/>
                </a:moveTo>
                <a:lnTo>
                  <a:pt x="348" y="198"/>
                </a:lnTo>
                <a:lnTo>
                  <a:pt x="256" y="251"/>
                </a:lnTo>
                <a:lnTo>
                  <a:pt x="256" y="145"/>
                </a:lnTo>
                <a:lnTo>
                  <a:pt x="347" y="92"/>
                </a:lnTo>
                <a:cubicBezTo>
                  <a:pt x="348" y="93"/>
                  <a:pt x="348" y="95"/>
                  <a:pt x="348" y="9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31" name="mt5-title"/>
          <p:cNvSpPr>
            <a:spLocks noGrp="1"/>
          </p:cNvSpPr>
          <p:nvPr/>
        </p:nvSpPr>
        <p:spPr>
          <a:xfrm>
            <a:off x="8737600" y="31242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三维孪生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mt5-body"/>
          <p:cNvSpPr>
            <a:spLocks noGrp="1"/>
          </p:cNvSpPr>
          <p:nvPr/>
        </p:nvSpPr>
        <p:spPr>
          <a:xfrm>
            <a:off x="8331200" y="3530600"/>
            <a:ext cx="3225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三维数字孪生HTML和关键图表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mt6-bg"/>
          <p:cNvSpPr>
            <a:spLocks noGrp="1"/>
          </p:cNvSpPr>
          <p:nvPr/>
        </p:nvSpPr>
        <p:spPr>
          <a:xfrm>
            <a:off x="508000" y="4521200"/>
            <a:ext cx="36068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4" name="mt6-ic"/>
          <p:cNvSpPr>
            <a:spLocks noGrp="1"/>
          </p:cNvSpPr>
          <p:nvPr/>
        </p:nvSpPr>
        <p:spPr>
          <a:xfrm>
            <a:off x="685800" y="4686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35" name="mt6-title"/>
          <p:cNvSpPr>
            <a:spLocks noGrp="1"/>
          </p:cNvSpPr>
          <p:nvPr/>
        </p:nvSpPr>
        <p:spPr>
          <a:xfrm>
            <a:off x="1117600" y="46736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策略与验证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mt6-body"/>
          <p:cNvSpPr>
            <a:spLocks noGrp="1"/>
          </p:cNvSpPr>
          <p:nvPr/>
        </p:nvSpPr>
        <p:spPr>
          <a:xfrm>
            <a:off x="711200" y="5080000"/>
            <a:ext cx="3225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PPO/SAC模型、奖励明细、动作轨迹、180秒验证结果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mt7-bg"/>
          <p:cNvSpPr>
            <a:spLocks noGrp="1"/>
          </p:cNvSpPr>
          <p:nvPr/>
        </p:nvSpPr>
        <p:spPr>
          <a:xfrm>
            <a:off x="4318000" y="4521200"/>
            <a:ext cx="36068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38" name="mt7-ic"/>
          <p:cNvSpPr>
            <a:spLocks noGrp="1"/>
          </p:cNvSpPr>
          <p:nvPr/>
        </p:nvSpPr>
        <p:spPr>
          <a:xfrm>
            <a:off x="4495800" y="4686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120" y="256"/>
                </a:moveTo>
                <a:cubicBezTo>
                  <a:pt x="107" y="256"/>
                  <a:pt x="96" y="267"/>
                  <a:pt x="96" y="280"/>
                </a:cubicBezTo>
                <a:cubicBezTo>
                  <a:pt x="96" y="293"/>
                  <a:pt x="107" y="304"/>
                  <a:pt x="120" y="304"/>
                </a:cubicBezTo>
                <a:lnTo>
                  <a:pt x="264" y="304"/>
                </a:lnTo>
                <a:cubicBezTo>
                  <a:pt x="277" y="304"/>
                  <a:pt x="288" y="293"/>
                  <a:pt x="288" y="280"/>
                </a:cubicBezTo>
                <a:cubicBezTo>
                  <a:pt x="288" y="267"/>
                  <a:pt x="277" y="256"/>
                  <a:pt x="264" y="256"/>
                </a:cubicBezTo>
                <a:lnTo>
                  <a:pt x="120" y="256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64" y="400"/>
                </a:lnTo>
                <a:cubicBezTo>
                  <a:pt x="277" y="400"/>
                  <a:pt x="288" y="389"/>
                  <a:pt x="288" y="376"/>
                </a:cubicBezTo>
                <a:cubicBezTo>
                  <a:pt x="288" y="363"/>
                  <a:pt x="277" y="352"/>
                  <a:pt x="264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39" name="mt7-title"/>
          <p:cNvSpPr>
            <a:spLocks noGrp="1"/>
          </p:cNvSpPr>
          <p:nvPr/>
        </p:nvSpPr>
        <p:spPr>
          <a:xfrm>
            <a:off x="4927600" y="46736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mt7-body"/>
          <p:cNvSpPr>
            <a:spLocks noGrp="1"/>
          </p:cNvSpPr>
          <p:nvPr/>
        </p:nvSpPr>
        <p:spPr>
          <a:xfrm>
            <a:off x="4521200" y="5080000"/>
            <a:ext cx="3225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测试报告、源码指纹、环境依赖和安装运行说明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mt8-bg"/>
          <p:cNvSpPr>
            <a:spLocks noGrp="1"/>
          </p:cNvSpPr>
          <p:nvPr/>
        </p:nvSpPr>
        <p:spPr>
          <a:xfrm>
            <a:off x="8128000" y="4521200"/>
            <a:ext cx="36068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38100" dist="25145" dir="2700000" algn="bl" rotWithShape="0">
              <a:srgbClr val="000000">
                <a:alpha val="14902"/>
              </a:srgbClr>
            </a:outerShdw>
          </a:effectLst>
        </p:spPr>
      </p:sp>
      <p:sp>
        <p:nvSpPr>
          <p:cNvPr id="42" name="mt8-ic"/>
          <p:cNvSpPr>
            <a:spLocks noGrp="1"/>
          </p:cNvSpPr>
          <p:nvPr/>
        </p:nvSpPr>
        <p:spPr>
          <a:xfrm>
            <a:off x="8305800" y="4686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311" y="32"/>
                </a:moveTo>
                <a:lnTo>
                  <a:pt x="320" y="32"/>
                </a:lnTo>
                <a:cubicBezTo>
                  <a:pt x="355" y="32"/>
                  <a:pt x="384" y="61"/>
                  <a:pt x="384" y="96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73" y="32"/>
                </a:lnTo>
                <a:cubicBezTo>
                  <a:pt x="84" y="13"/>
                  <a:pt x="104" y="0"/>
                  <a:pt x="128" y="0"/>
                </a:cubicBezTo>
                <a:lnTo>
                  <a:pt x="256" y="0"/>
                </a:lnTo>
                <a:cubicBezTo>
                  <a:pt x="280" y="0"/>
                  <a:pt x="300" y="13"/>
                  <a:pt x="311" y="32"/>
                </a:cubicBezTo>
                <a:close/>
                <a:moveTo>
                  <a:pt x="248" y="112"/>
                </a:moveTo>
                <a:cubicBezTo>
                  <a:pt x="261" y="112"/>
                  <a:pt x="272" y="101"/>
                  <a:pt x="272" y="88"/>
                </a:cubicBezTo>
                <a:cubicBezTo>
                  <a:pt x="272" y="75"/>
                  <a:pt x="261" y="64"/>
                  <a:pt x="248" y="64"/>
                </a:cubicBezTo>
                <a:lnTo>
                  <a:pt x="136" y="64"/>
                </a:lnTo>
                <a:cubicBezTo>
                  <a:pt x="123" y="64"/>
                  <a:pt x="112" y="75"/>
                  <a:pt x="112" y="88"/>
                </a:cubicBezTo>
                <a:cubicBezTo>
                  <a:pt x="112" y="101"/>
                  <a:pt x="123" y="112"/>
                  <a:pt x="136" y="112"/>
                </a:cubicBezTo>
                <a:lnTo>
                  <a:pt x="248" y="112"/>
                </a:lnTo>
                <a:close/>
                <a:moveTo>
                  <a:pt x="276" y="261"/>
                </a:moveTo>
                <a:cubicBezTo>
                  <a:pt x="283" y="250"/>
                  <a:pt x="280" y="235"/>
                  <a:pt x="269" y="228"/>
                </a:cubicBezTo>
                <a:cubicBezTo>
                  <a:pt x="258" y="221"/>
                  <a:pt x="243" y="224"/>
                  <a:pt x="236" y="235"/>
                </a:cubicBezTo>
                <a:lnTo>
                  <a:pt x="174" y="334"/>
                </a:lnTo>
                <a:lnTo>
                  <a:pt x="147" y="298"/>
                </a:lnTo>
                <a:cubicBezTo>
                  <a:pt x="139" y="287"/>
                  <a:pt x="124" y="285"/>
                  <a:pt x="114" y="293"/>
                </a:cubicBezTo>
                <a:cubicBezTo>
                  <a:pt x="103" y="301"/>
                  <a:pt x="101" y="316"/>
                  <a:pt x="109" y="326"/>
                </a:cubicBezTo>
                <a:lnTo>
                  <a:pt x="157" y="390"/>
                </a:lnTo>
                <a:cubicBezTo>
                  <a:pt x="162" y="397"/>
                  <a:pt x="169" y="400"/>
                  <a:pt x="177" y="400"/>
                </a:cubicBezTo>
                <a:cubicBezTo>
                  <a:pt x="185" y="400"/>
                  <a:pt x="192" y="395"/>
                  <a:pt x="196" y="389"/>
                </a:cubicBezTo>
                <a:lnTo>
                  <a:pt x="276" y="26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43" name="mt8-title"/>
          <p:cNvSpPr>
            <a:spLocks noGrp="1"/>
          </p:cNvSpPr>
          <p:nvPr/>
        </p:nvSpPr>
        <p:spPr>
          <a:xfrm>
            <a:off x="8737600" y="46736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5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合同映射</a:t>
            </a:r>
            <a:endParaRPr sz="15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mt8-body"/>
          <p:cNvSpPr>
            <a:spLocks noGrp="1"/>
          </p:cNvSpPr>
          <p:nvPr/>
        </p:nvSpPr>
        <p:spPr>
          <a:xfrm>
            <a:off x="8331200" y="5080000"/>
            <a:ext cx="3225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spcBef>
                <a:spcPts val="300"/>
              </a:spcBef>
              <a:buNone/>
            </a:pPr>
            <a:r>
              <a:rPr sz="1150">
                <a:solidFill>
                  <a:srgbClr val="2318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合同条款映射、限制说明及后续数据需求清单</a:t>
            </a:r>
            <a:endParaRPr sz="1150">
              <a:solidFill>
                <a:srgbClr val="2318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bg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6525260"/>
            <a:ext cx="1272540" cy="219710"/>
          </a:xfrm>
          <a:prstGeom prst="rect">
            <a:avLst/>
          </a:prstGeom>
          <a:ln>
            <a:noFill/>
          </a:ln>
        </p:spPr>
      </p:pic>
      <p:pic>
        <p:nvPicPr>
          <p:cNvPr id="8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" y="0"/>
            <a:ext cx="12158980" cy="6856730"/>
          </a:xfrm>
          <a:prstGeom prst="rect">
            <a:avLst/>
          </a:prstGeom>
          <a:ln>
            <a:noFill/>
          </a:ln>
        </p:spPr>
      </p:pic>
      <p:sp>
        <p:nvSpPr>
          <p:cNvPr id="4" name="thanks"/>
          <p:cNvSpPr>
            <a:spLocks noGrp="1"/>
          </p:cNvSpPr>
          <p:nvPr/>
        </p:nvSpPr>
        <p:spPr>
          <a:xfrm>
            <a:off x="2086610" y="2178050"/>
            <a:ext cx="279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5400" b="1">
                <a:solidFill>
                  <a:srgbClr val="E6001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谢谢!</a:t>
            </a:r>
            <a:endParaRPr sz="5400" b="1">
              <a:solidFill>
                <a:srgbClr val="E6001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ags/tag2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ags/tag3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ags/tag4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ags/tag5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ags/tag6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ags/tag7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ags/tag8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ags/tag9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ags/tag10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ags/tag11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ags/tag12.xml><?xml version="1.0" encoding="utf-8"?>
<p:tagLst xmlns:p="http://schemas.openxmlformats.org/presentationml/2006/main">
  <p:tag name="KSO_WM_DIAGRAM_VIRTUALLY_FRAME" val="{&quot;height&quot;:358,&quot;left&quot;:40,&quot;top&quot;:110,&quot;width&quot;:880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14864</Words>
  <Application>WPS 演示</Application>
  <PresentationFormat>Converted Presentation</PresentationFormat>
  <Paragraphs>1274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微软雅黑</vt:lpstr>
      <vt:lpstr>Times New Roman</vt:lpstr>
      <vt:lpstr>Arial</vt:lpstr>
      <vt:lpstr>Arial Unicode MS</vt:lpstr>
      <vt:lpstr>MiSans</vt:lpstr>
      <vt:lpstr>黑体</vt:lpstr>
      <vt:lpstr>Calibri</vt:lpstr>
      <vt:lpstr>Times New Roman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东云</cp:lastModifiedBy>
  <cp:revision>3</cp:revision>
  <dcterms:created xsi:type="dcterms:W3CDTF">2026-07-29T06:36:12Z</dcterms:created>
  <dcterms:modified xsi:type="dcterms:W3CDTF">2026-07-29T08:46:32Z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A130C48D62084F7C8C07BE1A64789A02_12</vt:lpwstr>
  </property>
</Properties>
</file>